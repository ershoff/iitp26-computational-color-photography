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  <p:sldMasterId id="2147483674" r:id="rId2"/>
    <p:sldMasterId id="2147483675" r:id="rId3"/>
  </p:sldMasterIdLst>
  <p:notesMasterIdLst>
    <p:notesMasterId r:id="rId59"/>
  </p:notesMasterIdLst>
  <p:sldIdLst>
    <p:sldId id="317" r:id="rId4"/>
    <p:sldId id="257" r:id="rId5"/>
    <p:sldId id="318" r:id="rId6"/>
    <p:sldId id="319" r:id="rId7"/>
    <p:sldId id="320" r:id="rId8"/>
    <p:sldId id="261" r:id="rId9"/>
    <p:sldId id="262" r:id="rId10"/>
    <p:sldId id="321" r:id="rId11"/>
    <p:sldId id="264" r:id="rId12"/>
    <p:sldId id="265" r:id="rId13"/>
    <p:sldId id="266" r:id="rId14"/>
    <p:sldId id="323" r:id="rId15"/>
    <p:sldId id="322" r:id="rId16"/>
    <p:sldId id="270" r:id="rId17"/>
    <p:sldId id="271" r:id="rId18"/>
    <p:sldId id="331" r:id="rId19"/>
    <p:sldId id="324" r:id="rId20"/>
    <p:sldId id="273" r:id="rId21"/>
    <p:sldId id="274" r:id="rId22"/>
    <p:sldId id="275" r:id="rId23"/>
    <p:sldId id="276" r:id="rId24"/>
    <p:sldId id="278" r:id="rId25"/>
    <p:sldId id="280" r:id="rId26"/>
    <p:sldId id="279" r:id="rId27"/>
    <p:sldId id="326" r:id="rId28"/>
    <p:sldId id="325" r:id="rId29"/>
    <p:sldId id="283" r:id="rId30"/>
    <p:sldId id="284" r:id="rId31"/>
    <p:sldId id="327" r:id="rId32"/>
    <p:sldId id="287" r:id="rId33"/>
    <p:sldId id="288" r:id="rId34"/>
    <p:sldId id="289" r:id="rId35"/>
    <p:sldId id="328" r:id="rId36"/>
    <p:sldId id="292" r:id="rId37"/>
    <p:sldId id="293" r:id="rId38"/>
    <p:sldId id="294" r:id="rId39"/>
    <p:sldId id="295" r:id="rId40"/>
    <p:sldId id="330" r:id="rId41"/>
    <p:sldId id="329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9144000" cy="5143500" type="screen16x9"/>
  <p:notesSz cx="6858000" cy="9144000"/>
  <p:embeddedFontLst>
    <p:embeddedFont>
      <p:font typeface="Lato" panose="020F0502020204030203" pitchFamily="34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67">
          <p15:clr>
            <a:srgbClr val="A4A3A4"/>
          </p15:clr>
        </p15:guide>
        <p15:guide id="2" pos="5472">
          <p15:clr>
            <a:srgbClr val="A4A3A4"/>
          </p15:clr>
        </p15:guide>
        <p15:guide id="3" pos="20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00" y="40"/>
      </p:cViewPr>
      <p:guideLst>
        <p:guide orient="horz" pos="667"/>
        <p:guide pos="5472"/>
        <p:guide pos="2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font" Target="fonts/font4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font" Target="fonts/font2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notesMaster" Target="notesMasters/notesMaster1.xml"/><Relationship Id="rId67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font" Target="fonts/font1.fntdata"/><Relationship Id="rId65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f78b853b98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f78b853b98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26"/>
          <p:cNvCxnSpPr/>
          <p:nvPr/>
        </p:nvCxnSpPr>
        <p:spPr>
          <a:xfrm>
            <a:off x="324850" y="415650"/>
            <a:ext cx="8397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" name="Google Shape;101;p26"/>
          <p:cNvCxnSpPr/>
          <p:nvPr/>
        </p:nvCxnSpPr>
        <p:spPr>
          <a:xfrm>
            <a:off x="379000" y="4740000"/>
            <a:ext cx="8343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Google Shape;102;p26"/>
          <p:cNvSpPr txBox="1">
            <a:spLocks noGrp="1"/>
          </p:cNvSpPr>
          <p:nvPr>
            <p:ph type="title"/>
          </p:nvPr>
        </p:nvSpPr>
        <p:spPr>
          <a:xfrm>
            <a:off x="324850" y="423550"/>
            <a:ext cx="83970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cxnSp>
        <p:nvCxnSpPr>
          <p:cNvPr id="106" name="Google Shape;106;p27"/>
          <p:cNvCxnSpPr/>
          <p:nvPr/>
        </p:nvCxnSpPr>
        <p:spPr>
          <a:xfrm>
            <a:off x="324850" y="415650"/>
            <a:ext cx="8397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7" name="Google Shape;107;p27"/>
          <p:cNvCxnSpPr/>
          <p:nvPr/>
        </p:nvCxnSpPr>
        <p:spPr>
          <a:xfrm>
            <a:off x="379000" y="4740000"/>
            <a:ext cx="83430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p27"/>
          <p:cNvSpPr txBox="1">
            <a:spLocks noGrp="1"/>
          </p:cNvSpPr>
          <p:nvPr>
            <p:ph type="body" idx="1"/>
          </p:nvPr>
        </p:nvSpPr>
        <p:spPr>
          <a:xfrm>
            <a:off x="834325" y="1130375"/>
            <a:ext cx="7417200" cy="3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title"/>
          </p:nvPr>
        </p:nvSpPr>
        <p:spPr>
          <a:xfrm>
            <a:off x="324850" y="423550"/>
            <a:ext cx="83970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>
            <a:spLocks noGrp="1"/>
          </p:cNvSpPr>
          <p:nvPr>
            <p:ph type="title"/>
          </p:nvPr>
        </p:nvSpPr>
        <p:spPr>
          <a:xfrm>
            <a:off x="531771" y="575950"/>
            <a:ext cx="81873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 b="1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body" idx="1"/>
          </p:nvPr>
        </p:nvSpPr>
        <p:spPr>
          <a:xfrm>
            <a:off x="544544" y="1595776"/>
            <a:ext cx="81873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 i="0" u="none" strike="noStrike" cap="none">
                <a:solidFill>
                  <a:schemeClr val="dk2"/>
                </a:solidFill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 i="0" u="none" strike="noStrike" cap="none">
                <a:solidFill>
                  <a:schemeClr val="dk2"/>
                </a:solidFill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 i="0" u="none" strike="noStrike" cap="none">
                <a:solidFill>
                  <a:schemeClr val="dk2"/>
                </a:solidFill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 i="0" u="none" strike="noStrike" cap="none">
                <a:solidFill>
                  <a:schemeClr val="dk2"/>
                </a:solidFill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 i="0" u="none" strike="noStrike" cap="none">
                <a:solidFill>
                  <a:schemeClr val="dk2"/>
                </a:solidFill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 i="0" u="none" strike="noStrike" cap="none">
                <a:solidFill>
                  <a:schemeClr val="dk2"/>
                </a:solidFill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 i="0" u="none" strike="noStrike" cap="none">
                <a:solidFill>
                  <a:schemeClr val="dk2"/>
                </a:solidFill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 i="0" u="none" strike="noStrike" cap="none">
                <a:solidFill>
                  <a:schemeClr val="dk2"/>
                </a:solidFill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1400"/>
              <a:buChar char="■"/>
              <a:defRPr sz="14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>
            <a:spLocks noGrp="1"/>
          </p:cNvSpPr>
          <p:nvPr>
            <p:ph type="title" idx="4294967295"/>
          </p:nvPr>
        </p:nvSpPr>
        <p:spPr>
          <a:xfrm>
            <a:off x="618850" y="1458816"/>
            <a:ext cx="6227700" cy="18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15"/>
              <a:buFont typeface="Arial"/>
              <a:buNone/>
            </a:pPr>
            <a:r>
              <a:rPr lang="ru" sz="3600" b="1"/>
              <a:t>Алгоритмы цветовой вычислительной фотографии</a:t>
            </a:r>
            <a:endParaRPr sz="3600" b="1">
              <a:solidFill>
                <a:srgbClr val="000000"/>
              </a:solidFill>
            </a:endParaRPr>
          </a:p>
        </p:txBody>
      </p:sp>
      <p:pic>
        <p:nvPicPr>
          <p:cNvPr id="117" name="Google Shape;11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3425" y="0"/>
            <a:ext cx="206058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200" y="121075"/>
            <a:ext cx="2752524" cy="7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9"/>
          <p:cNvSpPr txBox="1"/>
          <p:nvPr/>
        </p:nvSpPr>
        <p:spPr>
          <a:xfrm>
            <a:off x="618850" y="3248213"/>
            <a:ext cx="5763600" cy="4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600" i="0" u="none" strike="noStrike" cap="none" dirty="0">
                <a:solidFill>
                  <a:srgbClr val="000000"/>
                </a:solidFill>
              </a:rPr>
              <a:t>Лекция 3. </a:t>
            </a:r>
            <a:r>
              <a:rPr lang="ru-RU" sz="1600" dirty="0"/>
              <a:t>Подробности линейной модели</a:t>
            </a:r>
            <a:endParaRPr sz="1600" i="0" u="none" strike="noStrike" cap="none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144" y="5029200"/>
            <a:ext cx="91440" cy="91440"/>
          </a:xfrm>
        </p:spPr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</a:rPr>
              <a:t>Блок 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2029968"/>
            <a:ext cx="70408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50975" y="1929384"/>
            <a:ext cx="201168" cy="201168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-22860" y="12344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Lato"/>
              </a:rPr>
              <a:t>было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2860" y="22677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Lato"/>
              </a:rPr>
              <a:t>Л1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22860" y="26517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Lato"/>
              </a:rPr>
              <a:t>Что такое цвет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2860" y="303580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Lato"/>
              </a:rPr>
              <a:t>спектр, колбочки</a:t>
            </a:r>
          </a:p>
        </p:txBody>
      </p:sp>
      <p:sp>
        <p:nvSpPr>
          <p:cNvPr id="10" name="Oval 9"/>
          <p:cNvSpPr/>
          <p:nvPr/>
        </p:nvSpPr>
        <p:spPr>
          <a:xfrm>
            <a:off x="3297936" y="1929384"/>
            <a:ext cx="201168" cy="201168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24099" y="12344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Lato"/>
              </a:rPr>
              <a:t>было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099" y="22677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Lato"/>
              </a:rPr>
              <a:t>Л2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4099" y="26517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Lato"/>
              </a:rPr>
              <a:t>Линейная модель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099" y="303580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Lato"/>
              </a:rPr>
              <a:t>Максвелл, Грассман</a:t>
            </a:r>
          </a:p>
        </p:txBody>
      </p:sp>
      <p:sp>
        <p:nvSpPr>
          <p:cNvPr id="15" name="Oval 14"/>
          <p:cNvSpPr/>
          <p:nvPr/>
        </p:nvSpPr>
        <p:spPr>
          <a:xfrm>
            <a:off x="5644896" y="1929384"/>
            <a:ext cx="201168" cy="201168"/>
          </a:xfrm>
          <a:prstGeom prst="ellipse">
            <a:avLst/>
          </a:prstGeom>
          <a:solidFill>
            <a:srgbClr val="4285F4"/>
          </a:solidFill>
          <a:ln w="15875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71060" y="12344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4285F4"/>
                </a:solidFill>
                <a:latin typeface="Lato"/>
              </a:rPr>
              <a:t>сегодня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1060" y="22677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Lato"/>
              </a:rPr>
              <a:t>Л3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1060" y="26517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Lato"/>
              </a:rPr>
              <a:t>Разбор формулы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1060" y="303580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Lato"/>
              </a:rPr>
              <a:t>свет, СДФОС, глаз</a:t>
            </a:r>
          </a:p>
        </p:txBody>
      </p:sp>
      <p:sp>
        <p:nvSpPr>
          <p:cNvPr id="20" name="Oval 19"/>
          <p:cNvSpPr/>
          <p:nvPr/>
        </p:nvSpPr>
        <p:spPr>
          <a:xfrm>
            <a:off x="7991856" y="1929384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18020" y="12344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Lato"/>
              </a:rPr>
              <a:t>дальше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8020" y="2267712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Lato"/>
              </a:rPr>
              <a:t>Л4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8020" y="26517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Lato"/>
              </a:rPr>
              <a:t>Восприятие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8020" y="3035808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95959"/>
                </a:solidFill>
                <a:latin typeface="Lato"/>
              </a:rPr>
              <a:t>пороги, CAM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</a:rPr>
              <a:t>Тест блока А — после Л4, не сегодня. Вторая половина Л4 уже открывает блок Б.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467483A-EBC2-4FFC-9FA9-2DC5CD249C3E}"/>
              </a:ext>
            </a:extLst>
          </p:cNvPr>
          <p:cNvSpPr txBox="1">
            <a:spLocks/>
          </p:cNvSpPr>
          <p:nvPr/>
        </p:nvSpPr>
        <p:spPr>
          <a:xfrm>
            <a:off x="324612" y="1347193"/>
            <a:ext cx="4299235" cy="63550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800" b="1">
                <a:latin typeface="Lato"/>
              </a:rPr>
              <a:t>Формула и её границы</a:t>
            </a:r>
            <a:endParaRPr lang="ru-RU" sz="2800" b="1" dirty="0">
              <a:latin typeface="Lato"/>
            </a:endParaRPr>
          </a:p>
        </p:txBody>
      </p:sp>
      <p:pic>
        <p:nvPicPr>
          <p:cNvPr id="3" name="Picture 2" descr="_cover_1.jpg">
            <a:extLst>
              <a:ext uri="{FF2B5EF4-FFF2-40B4-BE49-F238E27FC236}">
                <a16:creationId xmlns:a16="http://schemas.microsoft.com/office/drawing/2014/main" id="{874B84E3-7634-48F2-B6D1-F8D8B14B6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645" y="0"/>
            <a:ext cx="4204355" cy="51386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50BF9F-4F1C-481E-8564-F23974342707}"/>
              </a:ext>
            </a:extLst>
          </p:cNvPr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</a:rPr>
              <a:t>Фотоархив А. А. Харкевича, ИППИ РАН</a:t>
            </a:r>
          </a:p>
        </p:txBody>
      </p:sp>
    </p:spTree>
    <p:extLst>
      <p:ext uri="{BB962C8B-B14F-4D97-AF65-F5344CB8AC3E}">
        <p14:creationId xmlns:p14="http://schemas.microsoft.com/office/powerpoint/2010/main" val="1986440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2331720"/>
            <a:ext cx="7417612" cy="196596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Свет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дошёл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как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спектр-стимул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F; в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конце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его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взвешивает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канал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χᵢ.</a:t>
            </a:r>
          </a:p>
          <a:p>
            <a:pPr algn="l">
              <a:spcAft>
                <a:spcPts val="1000"/>
              </a:spcAft>
            </a:pP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У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колбочки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аномала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и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камеры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разные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χ,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форма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интеграла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одна</a:t>
            </a:r>
            <a:r>
              <a:rPr lang="ru-RU" sz="16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  <a:endParaRPr sz="1600" b="0" i="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Что уже есть</a:t>
            </a:r>
          </a:p>
        </p:txBody>
      </p:sp>
      <p:pic>
        <p:nvPicPr>
          <p:cNvPr id="4" name="Picture 3" descr="eq_se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115568"/>
            <a:ext cx="7223760" cy="11161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2395728"/>
            <a:ext cx="3794760" cy="201168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Источники: спектр S_j и диаграмма B_j; потоки складываются.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Поверхность: несколько R_k и геометрия f, в том числе (n · n_i)_+.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Сенсор в конце: у c_i нужен индекс n_r.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Полная запись</a:t>
            </a:r>
          </a:p>
        </p:txBody>
      </p:sp>
      <p:pic>
        <p:nvPicPr>
          <p:cNvPr id="4" name="Picture 3" descr="eq_full_stack.png"/>
          <p:cNvPicPr>
            <a:picLocks noChangeAspect="1"/>
          </p:cNvPicPr>
          <p:nvPr/>
        </p:nvPicPr>
        <p:blipFill rotWithShape="1">
          <a:blip r:embed="rId2"/>
          <a:srcRect l="1" r="32875"/>
          <a:stretch/>
        </p:blipFill>
        <p:spPr>
          <a:xfrm>
            <a:off x="690988" y="987552"/>
            <a:ext cx="5210192" cy="1353312"/>
          </a:xfrm>
          <a:prstGeom prst="rect">
            <a:avLst/>
          </a:prstGeom>
        </p:spPr>
      </p:pic>
      <p:pic>
        <p:nvPicPr>
          <p:cNvPr id="5" name="Picture 4" descr="l12_br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866" y="2359152"/>
            <a:ext cx="2979682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Схема с Л1–Л2. Овал Φ — окраска на пятне; стимул к глазу — 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Что в модели линейно</a:t>
            </a:r>
          </a:p>
        </p:txBody>
      </p:sp>
      <p:pic>
        <p:nvPicPr>
          <p:cNvPr id="4" name="Picture 3" descr="eq_full_F.png"/>
          <p:cNvPicPr>
            <a:picLocks noChangeAspect="1"/>
          </p:cNvPicPr>
          <p:nvPr/>
        </p:nvPicPr>
        <p:blipFill rotWithShape="1">
          <a:blip r:embed="rId2"/>
          <a:srcRect l="25891" r="22553"/>
          <a:stretch/>
        </p:blipFill>
        <p:spPr>
          <a:xfrm>
            <a:off x="2903455" y="1005840"/>
            <a:ext cx="3568045" cy="107899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2176272"/>
          <a:ext cx="8321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Член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Линейно по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Физика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S_j, B_j и 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сложение потоков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два источника → сумма стимулов (Грассман)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R_k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смесь компонент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сколько угодно слагаемых: пигменты, лак, блик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χᵢ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пока χ фиксирован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адаптация и мезопическое зрение выключают эту строку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∫ dλ, ∫ dω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суперпозиция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интеграл — линейный оператор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2BAEFF3-072E-4E3D-AF1F-65913C10E358}"/>
              </a:ext>
            </a:extLst>
          </p:cNvPr>
          <p:cNvSpPr/>
          <p:nvPr/>
        </p:nvSpPr>
        <p:spPr>
          <a:xfrm>
            <a:off x="4939645" y="1470581"/>
            <a:ext cx="1470582" cy="5326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1F8FEF-7C74-4169-901B-85F56FD12BEC}"/>
              </a:ext>
            </a:extLst>
          </p:cNvPr>
          <p:cNvSpPr/>
          <p:nvPr/>
        </p:nvSpPr>
        <p:spPr>
          <a:xfrm>
            <a:off x="802849" y="3858893"/>
            <a:ext cx="1470582" cy="5326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144" y="5029200"/>
            <a:ext cx="91440" cy="91440"/>
          </a:xfrm>
        </p:spPr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Где модель ломается</a:t>
            </a:r>
          </a:p>
        </p:txBody>
      </p:sp>
      <p:pic>
        <p:nvPicPr>
          <p:cNvPr id="4" name="Picture 3" descr="_cover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60704"/>
            <a:ext cx="4114800" cy="1362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42316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дифракция, интерференция</a:t>
            </a:r>
          </a:p>
        </p:txBody>
      </p:sp>
      <p:pic>
        <p:nvPicPr>
          <p:cNvPr id="6" name="Picture 5" descr="_cover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1060704"/>
            <a:ext cx="4114800" cy="1362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8576" y="242316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флуоресценция: λ_in ≠ λ_out</a:t>
            </a:r>
          </a:p>
        </p:txBody>
      </p:sp>
      <p:pic>
        <p:nvPicPr>
          <p:cNvPr id="8" name="Picture 7" descr="_cover_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825496"/>
            <a:ext cx="4114800" cy="1362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187951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адаптация и мезопическое зрение</a:t>
            </a:r>
          </a:p>
        </p:txBody>
      </p:sp>
      <p:pic>
        <p:nvPicPr>
          <p:cNvPr id="10" name="Picture 9" descr="_cover_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2825496"/>
            <a:ext cx="4114800" cy="1362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8576" y="4187951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полупрозрачные среды, BSSRDF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5E6DB9C5-861A-4880-8FF8-48D52A048B6C}"/>
              </a:ext>
            </a:extLst>
          </p:cNvPr>
          <p:cNvSpPr txBox="1">
            <a:spLocks/>
          </p:cNvSpPr>
          <p:nvPr/>
        </p:nvSpPr>
        <p:spPr>
          <a:xfrm>
            <a:off x="324612" y="423367"/>
            <a:ext cx="8396935" cy="63550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800" b="1">
                <a:latin typeface="Lato"/>
                <a:ea typeface="Lato"/>
                <a:cs typeface="Lato"/>
              </a:rPr>
              <a:t>Источники</a:t>
            </a:r>
          </a:p>
        </p:txBody>
      </p:sp>
      <p:pic>
        <p:nvPicPr>
          <p:cNvPr id="7" name="Picture 6" descr="_cover_6.jpg">
            <a:extLst>
              <a:ext uri="{FF2B5EF4-FFF2-40B4-BE49-F238E27FC236}">
                <a16:creationId xmlns:a16="http://schemas.microsoft.com/office/drawing/2014/main" id="{98A4F3F5-CCA3-4C8C-8CB9-F7B0D8750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60704"/>
            <a:ext cx="2880360" cy="35204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3A626D-CCBA-4A63-9C28-1EA7D86ED65D}"/>
              </a:ext>
            </a:extLst>
          </p:cNvPr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Фотоархив А. А. Харкевича, ИППИ РАН</a:t>
            </a:r>
          </a:p>
        </p:txBody>
      </p:sp>
    </p:spTree>
    <p:extLst>
      <p:ext uri="{BB962C8B-B14F-4D97-AF65-F5344CB8AC3E}">
        <p14:creationId xmlns:p14="http://schemas.microsoft.com/office/powerpoint/2010/main" val="2306222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Геометрия источника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15568"/>
          <a:ext cx="84124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Тип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Идеализация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Что входит в S_j B_j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Точечный / направленный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δ(ω−ω₀)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одно направление, жёсткие тени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Линейный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отрезок / цилиндр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протяжённый блик, мягкая тень вдоль оси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Площадной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диск, окно, небо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интеграл по Ω₊, полутени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Удалённый (солнце)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параллельные лучи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как точка на бесконечности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Рассеянный / амбиент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почти изотропный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мало направления, много заливки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Типовые источники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CIE 15:2018. Натуральные планковские vs искусственные: FL, LED-B, LED-V, RGB.</a:t>
            </a:r>
          </a:p>
        </p:txBody>
      </p:sp>
      <p:pic>
        <p:nvPicPr>
          <p:cNvPr id="2050" name="Picture 2" descr="Spectra by light source; Look at the blue light for LED vs other artificial  sources : r/fuckyourheadlights">
            <a:extLst>
              <a:ext uri="{FF2B5EF4-FFF2-40B4-BE49-F238E27FC236}">
                <a16:creationId xmlns:a16="http://schemas.microsoft.com/office/drawing/2014/main" id="{70918F66-A0E6-4453-AF98-D58C0E508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512" y="1134476"/>
            <a:ext cx="5544548" cy="335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144" y="5029200"/>
            <a:ext cx="91440" cy="91440"/>
          </a:xfrm>
        </p:spPr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Стандарты CIE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641612"/>
              </p:ext>
            </p:extLst>
          </p:nvPr>
        </p:nvGraphicFramePr>
        <p:xfrm>
          <a:off x="365760" y="1060704"/>
          <a:ext cx="84124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101">
                <a:tc>
                  <a:txBody>
                    <a:bodyPr/>
                    <a:lstStyle/>
                    <a:p>
                      <a:r>
                        <a:rPr lang="ru-RU" sz="1100" b="1" i="0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Серия</a:t>
                      </a:r>
                      <a:endParaRPr sz="1100" b="1" i="0" dirty="0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Имя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Смысл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101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планк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2856 K, накал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101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планк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S(λ) = const, теория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101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серия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D50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≈ 5003 K, печать, ICC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101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серия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D55, D65, D75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дневной; D65 — колориметрия и sRGB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101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серия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ID50, ID65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дневной за стеклом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101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FL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FL2, FL7, FL11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трубки; TL84 — три пика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101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LED-B1 … B5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синий кристалл + люминофор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101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LED-BH1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плюс красный диод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101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LED-RGB1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три узких пика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11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LED-V1,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фиолетовая</a:t>
                      </a:r>
                      <a:r>
                        <a:rPr sz="1100" b="0" i="0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 </a:t>
                      </a:r>
                      <a:r>
                        <a:rPr sz="1100" b="0" i="0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накачка</a:t>
                      </a:r>
                      <a:r>
                        <a:rPr sz="1100" b="0" i="0" dirty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, </a:t>
                      </a:r>
                      <a:r>
                        <a:rPr sz="1100" b="0" i="0" dirty="0" err="1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широкополосные</a:t>
                      </a:r>
                      <a:endParaRPr sz="1100" b="0" i="0" dirty="0">
                        <a:solidFill>
                          <a:srgbClr val="000000"/>
                        </a:solidFill>
                        <a:latin typeface="Lato"/>
                        <a:ea typeface="Lato"/>
                        <a:cs typeface="La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CIE 15:2018. Серия D — одна семья. Конкретная лампа равна стандарту, только если совпал спектр.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144" y="5029200"/>
            <a:ext cx="91440" cy="91440"/>
          </a:xfrm>
        </p:spPr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Стандарты CIE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CIE 15:2018. Серия D — одна семья. Конкретная лампа равна стандарту, только если совпал спектр.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22C5B9F-77BB-4ED5-94B0-7C51CEB83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256" y="1058875"/>
            <a:ext cx="6096000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8750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7CC66682-A1DE-4B19-9146-913A2D8251B0}"/>
              </a:ext>
            </a:extLst>
          </p:cNvPr>
          <p:cNvSpPr txBox="1">
            <a:spLocks/>
          </p:cNvSpPr>
          <p:nvPr/>
        </p:nvSpPr>
        <p:spPr>
          <a:xfrm>
            <a:off x="833932" y="1130199"/>
            <a:ext cx="1932835" cy="2310586"/>
          </a:xfrm>
          <a:prstGeom prst="rect">
            <a:avLst/>
          </a:prstGeom>
        </p:spPr>
        <p:txBody>
          <a:bodyPr wrap="square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000"/>
              </a:spcAft>
            </a:pPr>
            <a:r>
              <a:rPr lang="ru-RU" sz="1600" dirty="0">
                <a:latin typeface="Lato"/>
                <a:ea typeface="Lato"/>
                <a:cs typeface="Lato"/>
              </a:rPr>
              <a:t>Спектральная </a:t>
            </a:r>
            <a:br>
              <a:rPr lang="ru-RU" sz="1600" dirty="0">
                <a:latin typeface="Lato"/>
                <a:ea typeface="Lato"/>
                <a:cs typeface="Lato"/>
              </a:rPr>
            </a:br>
            <a:r>
              <a:rPr lang="ru-RU" sz="1600" dirty="0">
                <a:latin typeface="Lato"/>
                <a:ea typeface="Lato"/>
                <a:cs typeface="Lato"/>
              </a:rPr>
              <a:t>Двулучевая</a:t>
            </a:r>
            <a:br>
              <a:rPr lang="ru-RU" sz="1600" dirty="0">
                <a:latin typeface="Lato"/>
                <a:ea typeface="Lato"/>
                <a:cs typeface="Lato"/>
              </a:rPr>
            </a:br>
            <a:r>
              <a:rPr lang="ru-RU" sz="1600" dirty="0">
                <a:latin typeface="Lato"/>
                <a:ea typeface="Lato"/>
                <a:cs typeface="Lato"/>
              </a:rPr>
              <a:t>Функция</a:t>
            </a:r>
            <a:br>
              <a:rPr lang="ru-RU" sz="1600" dirty="0">
                <a:latin typeface="Lato"/>
                <a:ea typeface="Lato"/>
                <a:cs typeface="Lato"/>
              </a:rPr>
            </a:br>
            <a:r>
              <a:rPr lang="ru-RU" sz="1600" dirty="0">
                <a:latin typeface="Lato"/>
                <a:ea typeface="Lato"/>
                <a:cs typeface="Lato"/>
              </a:rPr>
              <a:t>Отражательной</a:t>
            </a:r>
            <a:br>
              <a:rPr lang="ru-RU" sz="1600" dirty="0">
                <a:latin typeface="Lato"/>
                <a:ea typeface="Lato"/>
                <a:cs typeface="Lato"/>
              </a:rPr>
            </a:br>
            <a:r>
              <a:rPr lang="ru-RU" sz="1600" dirty="0">
                <a:latin typeface="Lato"/>
                <a:ea typeface="Lato"/>
                <a:cs typeface="Lato"/>
              </a:rPr>
              <a:t>Способности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4C33E6CB-35D3-46D7-ABF7-CEB827597AAE}"/>
              </a:ext>
            </a:extLst>
          </p:cNvPr>
          <p:cNvSpPr txBox="1">
            <a:spLocks/>
          </p:cNvSpPr>
          <p:nvPr/>
        </p:nvSpPr>
        <p:spPr>
          <a:xfrm>
            <a:off x="324612" y="423367"/>
            <a:ext cx="8396935" cy="63550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800" b="1">
                <a:latin typeface="Lato"/>
                <a:ea typeface="Lato"/>
                <a:cs typeface="Lato"/>
              </a:rPr>
              <a:t>Поверхности и СДФОС</a:t>
            </a:r>
          </a:p>
        </p:txBody>
      </p:sp>
      <p:pic>
        <p:nvPicPr>
          <p:cNvPr id="10" name="Picture 9" descr="_cover_8.jpg">
            <a:extLst>
              <a:ext uri="{FF2B5EF4-FFF2-40B4-BE49-F238E27FC236}">
                <a16:creationId xmlns:a16="http://schemas.microsoft.com/office/drawing/2014/main" id="{F2B4AD99-D4ED-4429-8A39-B20BE6E2E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932" y="0"/>
            <a:ext cx="4209068" cy="51444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382CDC-8F1B-4657-8297-00800C343D45}"/>
              </a:ext>
            </a:extLst>
          </p:cNvPr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Фотоархив А. А. Харкевича, ИППИ РАН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65CA2881-96DB-40C7-BC33-EE52325194C3}"/>
              </a:ext>
            </a:extLst>
          </p:cNvPr>
          <p:cNvSpPr txBox="1">
            <a:spLocks/>
          </p:cNvSpPr>
          <p:nvPr/>
        </p:nvSpPr>
        <p:spPr>
          <a:xfrm>
            <a:off x="3248765" y="1130199"/>
            <a:ext cx="1932835" cy="2310586"/>
          </a:xfrm>
          <a:prstGeom prst="rect">
            <a:avLst/>
          </a:prstGeom>
        </p:spPr>
        <p:txBody>
          <a:bodyPr wrap="square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000"/>
              </a:spcAft>
            </a:pPr>
            <a:r>
              <a:rPr lang="en-US" sz="1600" dirty="0">
                <a:latin typeface="Lato"/>
                <a:ea typeface="Lato"/>
                <a:cs typeface="Lato"/>
              </a:rPr>
              <a:t>Bidirectional</a:t>
            </a:r>
            <a:br>
              <a:rPr lang="en-US" sz="1600" dirty="0">
                <a:latin typeface="Lato"/>
                <a:ea typeface="Lato"/>
                <a:cs typeface="Lato"/>
              </a:rPr>
            </a:br>
            <a:r>
              <a:rPr lang="en-US" sz="1600" dirty="0">
                <a:latin typeface="Lato"/>
                <a:ea typeface="Lato"/>
                <a:cs typeface="Lato"/>
              </a:rPr>
              <a:t>Radial</a:t>
            </a:r>
            <a:br>
              <a:rPr lang="en-US" sz="1600" dirty="0">
                <a:latin typeface="Lato"/>
                <a:ea typeface="Lato"/>
                <a:cs typeface="Lato"/>
              </a:rPr>
            </a:br>
            <a:r>
              <a:rPr lang="en-US" sz="1600" dirty="0">
                <a:latin typeface="Lato"/>
                <a:ea typeface="Lato"/>
                <a:cs typeface="Lato"/>
              </a:rPr>
              <a:t>Density</a:t>
            </a:r>
            <a:br>
              <a:rPr lang="en-US" sz="1600" dirty="0">
                <a:latin typeface="Lato"/>
                <a:ea typeface="Lato"/>
                <a:cs typeface="Lato"/>
              </a:rPr>
            </a:br>
            <a:r>
              <a:rPr lang="en-US" sz="1600" dirty="0">
                <a:latin typeface="Lato"/>
                <a:ea typeface="Lato"/>
                <a:cs typeface="Lato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1528329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144" y="5029200"/>
            <a:ext cx="91440" cy="91440"/>
          </a:xfrm>
        </p:spPr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Частные случаи</a:t>
            </a:r>
          </a:p>
        </p:txBody>
      </p:sp>
      <p:pic>
        <p:nvPicPr>
          <p:cNvPr id="4" name="Picture 3" descr="_cover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60704"/>
            <a:ext cx="4114800" cy="1362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42316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бумага: ламберт, R = Φ/π</a:t>
            </a:r>
          </a:p>
        </p:txBody>
      </p:sp>
      <p:pic>
        <p:nvPicPr>
          <p:cNvPr id="6" name="Picture 5" descr="_cover_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1060704"/>
            <a:ext cx="4114800" cy="1362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8576" y="2423160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хром и металлы: Френель; Au, Cu красят блик</a:t>
            </a:r>
          </a:p>
        </p:txBody>
      </p:sp>
      <p:pic>
        <p:nvPicPr>
          <p:cNvPr id="8" name="Picture 7" descr="_cover_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825496"/>
            <a:ext cx="4114800" cy="1362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187951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яблоко: тело + зеркальный лепесток</a:t>
            </a:r>
          </a:p>
        </p:txBody>
      </p:sp>
      <p:pic>
        <p:nvPicPr>
          <p:cNvPr id="10" name="Picture 9" descr="_cover_1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2825496"/>
            <a:ext cx="4114800" cy="1362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08576" y="4187951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бархат: угол без зеркального лепестка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Хамелеон: спектр едет с углом. Cook–Torrance — сумма нескольких R_k.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3794760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Флуоресценция — биспектральная R(λ_in, λ_out).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BSSRDF: кожа, мрамор, воск — вход и выход в разных точках.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Объём, интерференция, дифракция (крыло, CD).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Когда СДФОС мало</a:t>
            </a:r>
          </a:p>
        </p:txBody>
      </p:sp>
      <p:pic>
        <p:nvPicPr>
          <p:cNvPr id="4" name="Picture 3" descr="_cover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631" y="1160373"/>
            <a:ext cx="4000500" cy="30230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lang="ru-RU" sz="2800" b="1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Как измерять СДФОС?</a:t>
            </a:r>
            <a:endParaRPr sz="2800" b="1" i="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228BDB-D8E5-4A14-BE17-C571B4EDF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411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2874385-7802-4ECD-B1C1-A0A054D03BDA}"/>
              </a:ext>
            </a:extLst>
          </p:cNvPr>
          <p:cNvSpPr txBox="1">
            <a:spLocks/>
          </p:cNvSpPr>
          <p:nvPr/>
        </p:nvSpPr>
        <p:spPr>
          <a:xfrm>
            <a:off x="833932" y="1130198"/>
            <a:ext cx="3874757" cy="3245205"/>
          </a:xfrm>
          <a:prstGeom prst="rect">
            <a:avLst/>
          </a:prstGeom>
        </p:spPr>
        <p:txBody>
          <a:bodyPr wrap="square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000"/>
              </a:spcAft>
            </a:pPr>
            <a:r>
              <a:rPr lang="ru-RU" sz="1800" dirty="0">
                <a:latin typeface="Lato"/>
                <a:ea typeface="Lato"/>
                <a:cs typeface="Lato"/>
              </a:rPr>
              <a:t>Приёмник χᵢ: оптика до рецептора, колбочки, сетчатка, аномалии, средний CIE и индивид.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AB7A6F18-FB73-4DFD-9C10-164AEE77C511}"/>
              </a:ext>
            </a:extLst>
          </p:cNvPr>
          <p:cNvSpPr txBox="1">
            <a:spLocks/>
          </p:cNvSpPr>
          <p:nvPr/>
        </p:nvSpPr>
        <p:spPr>
          <a:xfrm>
            <a:off x="324612" y="423367"/>
            <a:ext cx="8396935" cy="63550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800" b="1">
                <a:latin typeface="Lato"/>
                <a:ea typeface="Lato"/>
                <a:cs typeface="Lato"/>
              </a:rPr>
              <a:t>Сенсор: глаз</a:t>
            </a:r>
          </a:p>
        </p:txBody>
      </p:sp>
      <p:pic>
        <p:nvPicPr>
          <p:cNvPr id="10" name="Picture 9" descr="_cover_14.jpg">
            <a:extLst>
              <a:ext uri="{FF2B5EF4-FFF2-40B4-BE49-F238E27FC236}">
                <a16:creationId xmlns:a16="http://schemas.microsoft.com/office/drawing/2014/main" id="{FABEFB9D-9A2F-437B-BF48-6AEA4A9D6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682" y="0"/>
            <a:ext cx="4208318" cy="5143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E3D30B-4BB5-4C13-BBFD-43FC37C36DA3}"/>
              </a:ext>
            </a:extLst>
          </p:cNvPr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Фотоархив А. А. Харкевича, ИППИ РАН</a:t>
            </a:r>
          </a:p>
        </p:txBody>
      </p:sp>
    </p:spTree>
    <p:extLst>
      <p:ext uri="{BB962C8B-B14F-4D97-AF65-F5344CB8AC3E}">
        <p14:creationId xmlns:p14="http://schemas.microsoft.com/office/powerpoint/2010/main" val="1400513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3794760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Фундус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диск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нерва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макула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сосуды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Свет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приходит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со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стороны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стекловидного</a:t>
            </a:r>
            <a:r>
              <a:rPr lang="en-US"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lang="ru-RU"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тела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сначала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ганглии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и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аксоны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Рецепторы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глубже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у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пигментного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эпителия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;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наружные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сегменты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смотрят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от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света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Фотон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проходит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сосуды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и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проводку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потом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попадает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в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сегмент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В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ямке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передний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слой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тоньше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;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макула</a:t>
            </a:r>
            <a:r>
              <a:rPr sz="14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4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желтит</a:t>
            </a:r>
            <a:endParaRPr sz="1400" b="0" i="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Сетчатка, как она выглядит</a:t>
            </a:r>
          </a:p>
        </p:txBody>
      </p:sp>
      <p:pic>
        <p:nvPicPr>
          <p:cNvPr id="4" name="Picture 3" descr="_cover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115568"/>
            <a:ext cx="3977639" cy="1536192"/>
          </a:xfrm>
          <a:prstGeom prst="rect">
            <a:avLst/>
          </a:prstGeom>
        </p:spPr>
      </p:pic>
      <p:pic>
        <p:nvPicPr>
          <p:cNvPr id="5" name="Picture 4" descr="eye_his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692" y="2651760"/>
            <a:ext cx="2930893" cy="20683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Сверху: фундус, NEI, PD. Снизу: слои, OpenStax CC BY.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3794760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Роговица, зрачок, хрусталик, макула — фильтр до колбочки.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Меняется F, дошедшее до пигмента.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Поле 2° — ямка. Поэтому Райт и Гилд брали узкое поле.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Оптика до рецептора</a:t>
            </a:r>
          </a:p>
        </p:txBody>
      </p:sp>
      <p:pic>
        <p:nvPicPr>
          <p:cNvPr id="4" name="Picture 3" descr="l12_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631" y="1588408"/>
            <a:ext cx="4000500" cy="21669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Та же схема глаза, что на Л1–Л2.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408735" y="1058875"/>
            <a:ext cx="4262245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Палочки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родопсин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скотопическое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зрение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;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один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тип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—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нет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трёхмерных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равенств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Колбочки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L, M, S: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три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пигмента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сильное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перекрытие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L и M.</a:t>
            </a:r>
          </a:p>
          <a:p>
            <a:pPr algn="l">
              <a:spcAft>
                <a:spcPts val="1000"/>
              </a:spcAft>
            </a:pP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Мезопическое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зрение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—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смесь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Для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равенств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палочки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выключают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яркостью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и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полем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Фоторецепторы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8B72FDD-BD80-4C61-8A2F-F82905BFA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940" y="510227"/>
            <a:ext cx="2774013" cy="2223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9FD94A6-C5F3-4443-9C57-6AE1EE536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061" y="2818648"/>
            <a:ext cx="2745892" cy="1570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3794760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Колбочка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на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свету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гиперполяризация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меньше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глутамата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Здесь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живут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равенства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Максвелла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Горизонтальные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вычитают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фон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соседей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Биполяры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ON/OFF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кодируют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перепад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Амакриновые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—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время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и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движение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Ганглии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—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спайки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L−M, S−(L+M),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яркость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Цепочка в сетчатке</a:t>
            </a:r>
          </a:p>
        </p:txBody>
      </p:sp>
      <p:pic>
        <p:nvPicPr>
          <p:cNvPr id="4" name="Picture 3" descr="eye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509" y="1160373"/>
            <a:ext cx="3962742" cy="30230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OpenStax. Оппонентность — мост к Л4.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65760" y="3383280"/>
            <a:ext cx="4617720" cy="96012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Другие χᵢ ⇒ другая линейная модель и другие метамеры.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L и M — X-хромосома. Диагностика аномалоскопом — на Л4.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Аномалии: другие χᵢ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15568"/>
          <a:ext cx="46177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Нет пигмента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Пигмент сдвинут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протанопия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протаномалия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дейтеранопия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дейтераномалия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тританопия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тританомалия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_cover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115568"/>
            <a:ext cx="3611880" cy="3154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Мозаика колбочек, Fairchild / Commons.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3794760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Линза режет коротковолновую часть, в основном χ_S.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Макула: яма около 460 нм; поле 2° плотнее, чем 10°.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Плотность пигмента: кривая χ шире, L и M сильнее перекрываются.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Сдвиг λ_max: номограмма едет по оси. Это разброс нормальных.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Модель Асано</a:t>
            </a:r>
          </a:p>
        </p:txBody>
      </p:sp>
      <p:pic>
        <p:nvPicPr>
          <p:cNvPr id="4" name="Picture 3" descr="asano_c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631" y="1611405"/>
            <a:ext cx="4000500" cy="21209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Asano, Fairchild, Blondé, PLOS ONE 2016. Надстройка над CIEPO06.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7417612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Живой глаз и аномал — разные χ на одном F.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CIE 1931 2° и CIE 1964 10° — средний χ, не чей-то глаз.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Нюберг писал Райту: усреднённый наблюдатель никому не равен.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Камера — ещё один набор. Разброс нормальных — модель Асано.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Три разных наблюдателя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2CDA80D-18E4-40F3-9F72-79CF61727332}"/>
              </a:ext>
            </a:extLst>
          </p:cNvPr>
          <p:cNvSpPr txBox="1">
            <a:spLocks/>
          </p:cNvSpPr>
          <p:nvPr/>
        </p:nvSpPr>
        <p:spPr>
          <a:xfrm>
            <a:off x="833932" y="1130198"/>
            <a:ext cx="5349240" cy="3245205"/>
          </a:xfrm>
          <a:prstGeom prst="rect">
            <a:avLst/>
          </a:prstGeom>
        </p:spPr>
        <p:txBody>
          <a:bodyPr wrap="square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000"/>
              </a:spcAft>
            </a:pPr>
            <a:r>
              <a:rPr lang="ru-RU" sz="1800">
                <a:latin typeface="Lato"/>
                <a:ea typeface="Lato"/>
                <a:cs typeface="Lato"/>
              </a:rPr>
              <a:t>Райт и Гилд.</a:t>
            </a:r>
          </a:p>
          <a:p>
            <a:pPr>
              <a:spcAft>
                <a:spcPts val="1000"/>
              </a:spcAft>
            </a:pPr>
            <a:r>
              <a:rPr lang="ru-RU" sz="1800">
                <a:latin typeface="Lato"/>
                <a:ea typeface="Lato"/>
                <a:cs typeface="Lato"/>
              </a:rPr>
              <a:t>Выпуклый конус.</a:t>
            </a:r>
          </a:p>
          <a:p>
            <a:pPr>
              <a:spcAft>
                <a:spcPts val="1000"/>
              </a:spcAft>
            </a:pPr>
            <a:r>
              <a:rPr lang="ru-RU" sz="1800">
                <a:latin typeface="Lato"/>
                <a:ea typeface="Lato"/>
                <a:cs typeface="Lato"/>
              </a:rPr>
              <a:t>Цветовое тело.</a:t>
            </a:r>
          </a:p>
          <a:p>
            <a:pPr>
              <a:spcAft>
                <a:spcPts val="1000"/>
              </a:spcAft>
            </a:pPr>
            <a:r>
              <a:rPr lang="ru-RU" sz="1800">
                <a:latin typeface="Lato"/>
                <a:ea typeface="Lato"/>
                <a:cs typeface="Lato"/>
              </a:rPr>
              <a:t>Пересечения и метамерия.</a:t>
            </a:r>
          </a:p>
          <a:p>
            <a:pPr>
              <a:spcAft>
                <a:spcPts val="1000"/>
              </a:spcAft>
            </a:pPr>
            <a:r>
              <a:rPr lang="ru-RU" sz="1800">
                <a:latin typeface="Lato"/>
                <a:ea typeface="Lato"/>
                <a:cs typeface="Lato"/>
              </a:rPr>
              <a:t>Ступенчатые окраски.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222A972-71C2-475C-98DD-B0D9C6012DB0}"/>
              </a:ext>
            </a:extLst>
          </p:cNvPr>
          <p:cNvSpPr txBox="1">
            <a:spLocks/>
          </p:cNvSpPr>
          <p:nvPr/>
        </p:nvSpPr>
        <p:spPr>
          <a:xfrm>
            <a:off x="324612" y="423367"/>
            <a:ext cx="8396935" cy="63550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800" b="1">
                <a:latin typeface="Lato"/>
                <a:ea typeface="Lato"/>
                <a:cs typeface="Lato"/>
              </a:rPr>
              <a:t>Из линейной модели</a:t>
            </a:r>
          </a:p>
        </p:txBody>
      </p:sp>
      <p:pic>
        <p:nvPicPr>
          <p:cNvPr id="8" name="Picture 7" descr="_cover_17.jpg">
            <a:extLst>
              <a:ext uri="{FF2B5EF4-FFF2-40B4-BE49-F238E27FC236}">
                <a16:creationId xmlns:a16="http://schemas.microsoft.com/office/drawing/2014/main" id="{9943966F-23E6-4C86-A3E8-770BADFFB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926" y="45721"/>
            <a:ext cx="4176074" cy="51040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C672A8-29C4-4536-B57F-33BC961FD046}"/>
              </a:ext>
            </a:extLst>
          </p:cNvPr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Фотоархив А. А. Харкевича, ИППИ РАН</a:t>
            </a:r>
          </a:p>
        </p:txBody>
      </p:sp>
    </p:spTree>
    <p:extLst>
      <p:ext uri="{BB962C8B-B14F-4D97-AF65-F5344CB8AC3E}">
        <p14:creationId xmlns:p14="http://schemas.microsoft.com/office/powerpoint/2010/main" val="2130016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">
            <a:extLst>
              <a:ext uri="{FF2B5EF4-FFF2-40B4-BE49-F238E27FC236}">
                <a16:creationId xmlns:a16="http://schemas.microsoft.com/office/drawing/2014/main" id="{D10635B4-4399-4E59-A115-4E3ACDBA53EE}"/>
              </a:ext>
            </a:extLst>
          </p:cNvPr>
          <p:cNvSpPr txBox="1">
            <a:spLocks/>
          </p:cNvSpPr>
          <p:nvPr/>
        </p:nvSpPr>
        <p:spPr>
          <a:xfrm>
            <a:off x="324612" y="423367"/>
            <a:ext cx="8396935" cy="63550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800" b="1">
                <a:latin typeface="Lato"/>
                <a:ea typeface="Lato"/>
                <a:cs typeface="Lato"/>
              </a:rPr>
              <a:t>1. Райт и Гилд</a:t>
            </a:r>
          </a:p>
        </p:txBody>
      </p:sp>
      <p:pic>
        <p:nvPicPr>
          <p:cNvPr id="8" name="Picture 7" descr="_cover_18.jpg">
            <a:extLst>
              <a:ext uri="{FF2B5EF4-FFF2-40B4-BE49-F238E27FC236}">
                <a16:creationId xmlns:a16="http://schemas.microsoft.com/office/drawing/2014/main" id="{4B215C41-076D-4738-83F7-A8F8591A2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932" y="0"/>
            <a:ext cx="4209068" cy="51444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10A90A-163E-475D-854B-88263569EE65}"/>
              </a:ext>
            </a:extLst>
          </p:cNvPr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Фотоархив А. А. Харкевича, ИППИ РАН</a:t>
            </a:r>
          </a:p>
        </p:txBody>
      </p:sp>
    </p:spTree>
    <p:extLst>
      <p:ext uri="{BB962C8B-B14F-4D97-AF65-F5344CB8AC3E}">
        <p14:creationId xmlns:p14="http://schemas.microsoft.com/office/powerpoint/2010/main" val="2363994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3794760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Guild, 1931: 7 человек, 2°, фильтры.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Wright: 10 человек, 2°, спектральные первичные ≈ 650, 530, 460 нм.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CIE 1931: смесь 7+10, общие 700 / 546.1 / 435.8 нм.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Два опыта, разные первичные</a:t>
            </a:r>
          </a:p>
        </p:txBody>
      </p:sp>
      <p:pic>
        <p:nvPicPr>
          <p:cNvPr id="4" name="Picture 3" descr="l12_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631" y="1406485"/>
            <a:ext cx="4000500" cy="25307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Схема равенства с Л1–Л2. Ohta, Note 3.1; Канг, гл. 2.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2944368"/>
            <a:ext cx="7417612" cy="141732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Два набора CMF связаны одной 3×3. Новой физики нет: Грассман и замена базиса.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Поэтому Райт и Гилд пересчитываются в общие CIE RGB. Оба — нормальный трихромат, 2°, ямка.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Если Грассман не держит, матрица (2.31) уже не про того же наблюдателя.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lang="ru-RU" sz="2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Почему</a:t>
            </a:r>
            <a:r>
              <a:rPr sz="2800" b="1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2800" b="1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их</a:t>
            </a:r>
            <a:r>
              <a:rPr sz="2800" b="1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2800" b="1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можно</a:t>
            </a:r>
            <a:r>
              <a:rPr sz="2800" b="1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2800" b="1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совмещать</a:t>
            </a:r>
            <a:endParaRPr sz="2800" b="1" i="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4" name="Picture 3" descr="eq_k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12297"/>
            <a:ext cx="8412480" cy="18616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Канг, ур. 2.29–2.31. Φ_j здесь — спектры первичных, не окраска.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FEA7AC16-85AC-4156-BB73-4044D9C50462}"/>
              </a:ext>
            </a:extLst>
          </p:cNvPr>
          <p:cNvSpPr txBox="1">
            <a:spLocks/>
          </p:cNvSpPr>
          <p:nvPr/>
        </p:nvSpPr>
        <p:spPr>
          <a:xfrm>
            <a:off x="324612" y="423367"/>
            <a:ext cx="3926877" cy="63550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800" b="1" dirty="0">
                <a:latin typeface="Lato"/>
                <a:ea typeface="Lato"/>
                <a:cs typeface="Lato"/>
              </a:rPr>
              <a:t>2. Выпуклый цветовой конус</a:t>
            </a:r>
          </a:p>
        </p:txBody>
      </p:sp>
      <p:pic>
        <p:nvPicPr>
          <p:cNvPr id="9" name="Picture 8" descr="_cover_19.jpg">
            <a:extLst>
              <a:ext uri="{FF2B5EF4-FFF2-40B4-BE49-F238E27FC236}">
                <a16:creationId xmlns:a16="http://schemas.microsoft.com/office/drawing/2014/main" id="{775E519A-0341-42E5-96B6-7FF4F020C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682" y="0"/>
            <a:ext cx="4208318" cy="5143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4719C9-9641-48C8-849B-055D18C0FFD6}"/>
              </a:ext>
            </a:extLst>
          </p:cNvPr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Фотоархив А. А. Харкевича, ИППИ РАН</a:t>
            </a:r>
          </a:p>
        </p:txBody>
      </p:sp>
    </p:spTree>
    <p:extLst>
      <p:ext uri="{BB962C8B-B14F-4D97-AF65-F5344CB8AC3E}">
        <p14:creationId xmlns:p14="http://schemas.microsoft.com/office/powerpoint/2010/main" val="23886953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7417612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Спектральные: F(λ) = E₀ δ(λ−λ₀). Луч из нуля при смене E₀.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Локус замыкают пурпурной хордой (смесь крайних λ).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Конус — цвета всех F ≥ 0, не только монохроматов. Выпуклая оболочка локуса.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Что называют конусом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144" y="5029200"/>
            <a:ext cx="91440" cy="91440"/>
          </a:xfrm>
        </p:spPr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Конус, локус, треугольник</a:t>
            </a:r>
          </a:p>
        </p:txBody>
      </p:sp>
      <p:pic>
        <p:nvPicPr>
          <p:cNvPr id="4" name="Picture 3" descr="l12_c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93" y="1042415"/>
            <a:ext cx="4497693" cy="3383280"/>
          </a:xfrm>
          <a:prstGeom prst="rect">
            <a:avLst/>
          </a:prstGeom>
        </p:spPr>
      </p:pic>
      <p:pic>
        <p:nvPicPr>
          <p:cNvPr id="5" name="Picture 4" descr="l12_x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518" y="1115568"/>
            <a:ext cx="3084722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Как на Л1–Л2: конус в XYZ и хроматический локус.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144" y="5029200"/>
            <a:ext cx="91440" cy="91440"/>
          </a:xfrm>
        </p:spPr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Глаз и камера — разный локус</a:t>
            </a:r>
          </a:p>
        </p:txBody>
      </p:sp>
      <p:pic>
        <p:nvPicPr>
          <p:cNvPr id="4" name="Picture 3" descr="paper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340" y="1051560"/>
            <a:ext cx="6585318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Kroshnin, Vasilev, Ershov et al., JOSA A 39:452 (2022), рис. 1. Слева CIE, справа Nikon D90.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FBF6819-638E-473D-9C4D-EE5F2B2C842B}"/>
              </a:ext>
            </a:extLst>
          </p:cNvPr>
          <p:cNvSpPr txBox="1">
            <a:spLocks/>
          </p:cNvSpPr>
          <p:nvPr/>
        </p:nvSpPr>
        <p:spPr>
          <a:xfrm>
            <a:off x="833932" y="1130198"/>
            <a:ext cx="5349240" cy="3245205"/>
          </a:xfrm>
          <a:prstGeom prst="rect">
            <a:avLst/>
          </a:prstGeom>
        </p:spPr>
        <p:txBody>
          <a:bodyPr wrap="square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000"/>
              </a:spcAft>
            </a:pPr>
            <a:r>
              <a:rPr lang="ru-RU" sz="1800">
                <a:latin typeface="Lato"/>
                <a:ea typeface="Lato"/>
                <a:cs typeface="Lato"/>
              </a:rPr>
              <a:t>Несамосветящиеся окраски при данном освещении.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C8FF6F9D-D331-4AE0-B17B-F62BD12B1202}"/>
              </a:ext>
            </a:extLst>
          </p:cNvPr>
          <p:cNvSpPr txBox="1">
            <a:spLocks/>
          </p:cNvSpPr>
          <p:nvPr/>
        </p:nvSpPr>
        <p:spPr>
          <a:xfrm>
            <a:off x="324612" y="423367"/>
            <a:ext cx="8396935" cy="63550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800" b="1">
                <a:latin typeface="Lato"/>
                <a:ea typeface="Lato"/>
                <a:cs typeface="Lato"/>
              </a:rPr>
              <a:t>3. Цветовое тело</a:t>
            </a:r>
          </a:p>
        </p:txBody>
      </p:sp>
      <p:pic>
        <p:nvPicPr>
          <p:cNvPr id="8" name="Picture 7" descr="_cover_20.jpg">
            <a:extLst>
              <a:ext uri="{FF2B5EF4-FFF2-40B4-BE49-F238E27FC236}">
                <a16:creationId xmlns:a16="http://schemas.microsoft.com/office/drawing/2014/main" id="{A42A382E-D2A1-442A-9880-31536863F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60704"/>
            <a:ext cx="2880360" cy="3520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5072F8-C624-49A5-83E2-9E8F40FA0F41}"/>
              </a:ext>
            </a:extLst>
          </p:cNvPr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Фотоархив А. А. Харкевича, ИППИ РАН</a:t>
            </a:r>
          </a:p>
        </p:txBody>
      </p:sp>
    </p:spTree>
    <p:extLst>
      <p:ext uri="{BB962C8B-B14F-4D97-AF65-F5344CB8AC3E}">
        <p14:creationId xmlns:p14="http://schemas.microsoft.com/office/powerpoint/2010/main" val="20016722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2331720"/>
            <a:ext cx="7417612" cy="182880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0 ≤ Φ(λ) ≤ 1, F = S Φ. Тело при данном S — все цвета таких окрасок.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Лежит внутри конуса и ограничено: 0 ≤ Xᵢ ≤ Xᵢ⁰, где X⁰ = C(S).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Форма зависит от S и χᵢ. У конуса ламп нет потолка Φ ≤ 1.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Определение</a:t>
            </a:r>
          </a:p>
        </p:txBody>
      </p:sp>
      <p:pic>
        <p:nvPicPr>
          <p:cNvPr id="4" name="Picture 3" descr="eq_diff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15568"/>
            <a:ext cx="4389120" cy="67814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144" y="5029200"/>
            <a:ext cx="91440" cy="91440"/>
          </a:xfrm>
        </p:spPr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Тела зависят от света и от χᵢ</a:t>
            </a:r>
          </a:p>
        </p:txBody>
      </p:sp>
      <p:pic>
        <p:nvPicPr>
          <p:cNvPr id="4" name="Picture 3" descr="maximov_soli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625" y="1024128"/>
            <a:ext cx="4082748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Максимов, рис. 27: тела и метамерные области при разных освещениях.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2331720"/>
            <a:ext cx="7417612" cy="146304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Φ* = 1−Φ.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Середина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отрезка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— 50% </a:t>
            </a:r>
            <a:r>
              <a:rPr sz="16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серый</a:t>
            </a:r>
            <a:r>
              <a:rPr sz="16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½ X⁰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Центральная симметрия</a:t>
            </a:r>
          </a:p>
        </p:txBody>
      </p:sp>
      <p:pic>
        <p:nvPicPr>
          <p:cNvPr id="4" name="Picture 3" descr="eq_comp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78992"/>
            <a:ext cx="7772400" cy="11165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Максимов: дополнительные окраски.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3794760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Тело внутри конуса из 0 и конуса из X⁰.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Это оценка. Точная граница — ступеньки.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Двойной конус — грубая форма</a:t>
            </a:r>
          </a:p>
        </p:txBody>
      </p:sp>
      <p:pic>
        <p:nvPicPr>
          <p:cNvPr id="4" name="Picture 3" descr="paper_fig1_c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785" y="1160373"/>
            <a:ext cx="3506191" cy="302300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7417612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S_j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B_j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R_k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f, F, χᵢ — в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таком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порядке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Компонент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R_k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может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быть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больше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двух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Источники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геометрия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отдельно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спектр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отдельно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Планк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vs FL/LED, CIE 15:2018.</a:t>
            </a:r>
          </a:p>
          <a:p>
            <a:pPr algn="l">
              <a:spcAft>
                <a:spcPts val="1000"/>
              </a:spcAft>
            </a:pP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Окраска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Φ;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общее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— СДФОС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двух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лучей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Глаз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колбочки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Асано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правит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форму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χ.</a:t>
            </a:r>
          </a:p>
          <a:p>
            <a:pPr algn="l">
              <a:spcAft>
                <a:spcPts val="1000"/>
              </a:spcAft>
            </a:pP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Райт+Гилд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Канг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(2.31).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Конус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выпуклый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Тело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Φ ↔ 1−Φ.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Что сегодня зафиксировали</a:t>
            </a:r>
          </a:p>
        </p:txBody>
      </p:sp>
    </p:spTree>
    <p:extLst>
      <p:ext uri="{BB962C8B-B14F-4D97-AF65-F5344CB8AC3E}">
        <p14:creationId xmlns:p14="http://schemas.microsoft.com/office/powerpoint/2010/main" val="6667983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C571A1D2-1D85-43A7-ADE0-24475F705CA1}"/>
              </a:ext>
            </a:extLst>
          </p:cNvPr>
          <p:cNvSpPr txBox="1">
            <a:spLocks/>
          </p:cNvSpPr>
          <p:nvPr/>
        </p:nvSpPr>
        <p:spPr>
          <a:xfrm>
            <a:off x="833932" y="1130198"/>
            <a:ext cx="5349240" cy="3245205"/>
          </a:xfrm>
          <a:prstGeom prst="rect">
            <a:avLst/>
          </a:prstGeom>
        </p:spPr>
        <p:txBody>
          <a:bodyPr wrap="square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000"/>
              </a:spcAft>
            </a:pPr>
            <a:r>
              <a:rPr lang="ru-RU" sz="1800">
                <a:latin typeface="Lato"/>
                <a:ea typeface="Lato"/>
                <a:cs typeface="Lato"/>
              </a:rPr>
              <a:t>Когда по графикам сразу видно, что метамерии нет.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22D46E1-6E1B-4737-91C3-77292630FF12}"/>
              </a:ext>
            </a:extLst>
          </p:cNvPr>
          <p:cNvSpPr txBox="1">
            <a:spLocks/>
          </p:cNvSpPr>
          <p:nvPr/>
        </p:nvSpPr>
        <p:spPr>
          <a:xfrm>
            <a:off x="324612" y="423367"/>
            <a:ext cx="8396935" cy="63550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800" b="1">
                <a:latin typeface="Lato"/>
                <a:ea typeface="Lato"/>
                <a:cs typeface="Lato"/>
              </a:rPr>
              <a:t>4. Пересечения и метамерия</a:t>
            </a:r>
          </a:p>
        </p:txBody>
      </p:sp>
      <p:pic>
        <p:nvPicPr>
          <p:cNvPr id="10" name="Picture 9" descr="_cover_21.jpg">
            <a:extLst>
              <a:ext uri="{FF2B5EF4-FFF2-40B4-BE49-F238E27FC236}">
                <a16:creationId xmlns:a16="http://schemas.microsoft.com/office/drawing/2014/main" id="{23564F15-30AD-470E-B12A-6A0EBC68E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60704"/>
            <a:ext cx="2880360" cy="35204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D0E31F-078D-4E91-8331-7834CFDF89C3}"/>
              </a:ext>
            </a:extLst>
          </p:cNvPr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Фотоархив А. А. Харкевича, ИППИ РАН</a:t>
            </a:r>
          </a:p>
        </p:txBody>
      </p:sp>
    </p:spTree>
    <p:extLst>
      <p:ext uri="{BB962C8B-B14F-4D97-AF65-F5344CB8AC3E}">
        <p14:creationId xmlns:p14="http://schemas.microsoft.com/office/powerpoint/2010/main" val="2678777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2331720"/>
            <a:ext cx="4389120" cy="137160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Δ = F − Ψ ортогональна всем χᵢ. Когда по графикам сразу видно, что метамерии нет?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Постановка</a:t>
            </a:r>
          </a:p>
        </p:txBody>
      </p:sp>
      <p:pic>
        <p:nvPicPr>
          <p:cNvPr id="4" name="Picture 3" descr="eq_del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5568"/>
            <a:ext cx="4297680" cy="664019"/>
          </a:xfrm>
          <a:prstGeom prst="rect">
            <a:avLst/>
          </a:prstGeom>
        </p:spPr>
      </p:pic>
      <p:pic>
        <p:nvPicPr>
          <p:cNvPr id="5" name="Picture 4" descr="l12_lettu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67098"/>
            <a:ext cx="3749039" cy="24516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Спектры объектов и LMS — слайд с Л1–Л2 (Brown / lettuce).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144" y="5029200"/>
            <a:ext cx="91440" cy="91440"/>
          </a:xfrm>
        </p:spPr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Метамеры на фото</a:t>
            </a:r>
          </a:p>
        </p:txBody>
      </p:sp>
      <p:pic>
        <p:nvPicPr>
          <p:cNvPr id="4" name="Picture 3" descr="l12_lettu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41702"/>
            <a:ext cx="4160520" cy="2720699"/>
          </a:xfrm>
          <a:prstGeom prst="rect">
            <a:avLst/>
          </a:prstGeom>
        </p:spPr>
      </p:pic>
      <p:pic>
        <p:nvPicPr>
          <p:cNvPr id="5" name="Picture 4" descr="l12_lettuce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042" y="1078992"/>
            <a:ext cx="2115035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Салат vs зелёные чернила: разные F, близкий отклик. Л1–Л2.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7417612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Δ не меняет знак: все χᵢ видят больше — метамерии нет.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Одно пересечение может обнулить один канал, не два независимых.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Меньше двух пересечений ⇒ не метамеры. Достаточное условие.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Ноль и одно пересечение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3520440"/>
            <a:ext cx="7417612" cy="777240"/>
          </a:xfrm>
        </p:spPr>
        <p:txBody>
          <a:bodyPr wrap="square"/>
          <a:lstStyle/>
          <a:p>
            <a:pPr algn="l">
              <a:spcAft>
                <a:spcPts val="1000"/>
              </a:spcAft>
              <a:buNone/>
            </a:pPr>
            <a:r>
              <a:rPr sz="16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Меньше двух пересечений ⇒ не метамеры. Глазу обычно нужно три.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Число пересечений</a:t>
            </a:r>
          </a:p>
        </p:txBody>
      </p:sp>
      <p:pic>
        <p:nvPicPr>
          <p:cNvPr id="4" name="Picture 3" descr="cross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78992"/>
            <a:ext cx="8412480" cy="22771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Stiles &amp; Wyszecki, JOSA 1968. Стиль кривых — как в JOSA A 39:452.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144" y="5029200"/>
            <a:ext cx="91440" cy="91440"/>
          </a:xfrm>
        </p:spPr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Свет меняет тело и пересечения</a:t>
            </a:r>
          </a:p>
        </p:txBody>
      </p:sp>
      <p:pic>
        <p:nvPicPr>
          <p:cNvPr id="4" name="Picture 3" descr="maximov_meta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699" y="1024128"/>
            <a:ext cx="4914600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Максимов, рис. 45: спектры освещения и перекос цветового тела.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5349240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Оболочка тела и любая точка внутри.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5. Ступенчатые окраски</a:t>
            </a:r>
          </a:p>
        </p:txBody>
      </p:sp>
      <p:pic>
        <p:nvPicPr>
          <p:cNvPr id="4" name="Picture 3" descr="_cover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60704"/>
            <a:ext cx="2880360" cy="3520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Фотоархив А. А. Харкевича, ИППИ РАН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3520440"/>
            <a:ext cx="7417612" cy="77724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Φ ∈ {0, 1}, m скачков. На оболочке глаза m = 0, 1, 2.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Что такое ступенька</a:t>
            </a:r>
          </a:p>
        </p:txBody>
      </p:sp>
      <p:pic>
        <p:nvPicPr>
          <p:cNvPr id="4" name="Picture 3" descr="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78992"/>
            <a:ext cx="8412480" cy="219261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144" y="5029200"/>
            <a:ext cx="91440" cy="91440"/>
          </a:xfrm>
        </p:spPr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Утверждение 1. Оболочка тела</a:t>
            </a:r>
          </a:p>
        </p:txBody>
      </p:sp>
      <p:pic>
        <p:nvPicPr>
          <p:cNvPr id="4" name="Picture 3" descr="maximov_steps_sol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891" y="1024128"/>
            <a:ext cx="4590216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Максимов, рис. 18: одноступенчатые vs поверхность тела; врезки — Φ ступеньки.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7417612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Цвет на поверхности, но 0 &lt; Φ &lt; 1 на малом интервале.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Сжать в 0 и в 1: исходная — смесь концов, внутри отрезка.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Значит на поверхности Φ ∈ {0, 1}. Для глаза m = 0, 1, 2.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Почему на границе нет значений между 0 и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3932" y="4480560"/>
            <a:ext cx="74176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Lato"/>
                <a:ea typeface="Lato"/>
                <a:cs typeface="Lato"/>
              </a:rPr>
              <a:t>Пауза. Серая Φ ≡ 1/2 на поверхности? Нет: это центр.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7417612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Полоса 0→1→0 или стоп 1→0→1, двигаем λ₁ &lt; λ₂.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Дополнение 1−Φ — вторая створка.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Схлопнуть полосу — ребро. Всё 0 / всё 1 — вершины.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Как пробегать оболочку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2468880"/>
            <a:ext cx="7417612" cy="137160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Любая точка тела — выпуклая комбинация ступенек.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Сложение — усреднение окрасок. Внутри точки метамерны.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Утверждение 2. Смесь ступенек</a:t>
            </a:r>
          </a:p>
        </p:txBody>
      </p:sp>
      <p:pic>
        <p:nvPicPr>
          <p:cNvPr id="4" name="Picture 3" descr="eq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7589520" cy="11726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В статье 2022 это banded model: спектральная модель, замкнутая и по сложению, и по умножению.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2331720"/>
            <a:ext cx="7417612" cy="1463040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Каждый 1_{I_k} — прямоугольная ступенька.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Так приближаем любую Φ; внутри точки метамерны.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Явный способ: кусочно-постоянная Φ</a:t>
            </a:r>
          </a:p>
        </p:txBody>
      </p:sp>
      <p:pic>
        <p:nvPicPr>
          <p:cNvPr id="4" name="Picture 3" descr="eq_piecew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15568"/>
            <a:ext cx="7315200" cy="113024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144" y="5029200"/>
            <a:ext cx="91440" cy="91440"/>
          </a:xfrm>
        </p:spPr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Что не смешивать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83210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Ступенька одной Φ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Пересечения двух спектров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Вопрос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где точка тела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метамеры или 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Число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m &lt; 3 на оболочке глаза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обычно ≥ 3, чтобы метамерия была возможна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Сложение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смесь даёт внутренность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</a:rPr>
                        <a:t>разность Δ в ядре CMF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5349240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  <a:buNone/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Формула по ходу света и пять следствий линейности.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Что мы за сегодня поняли?</a:t>
            </a:r>
          </a:p>
        </p:txBody>
      </p:sp>
      <p:pic>
        <p:nvPicPr>
          <p:cNvPr id="4" name="Picture 3" descr="_cover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60704"/>
            <a:ext cx="2880360" cy="3520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736" y="4743907"/>
            <a:ext cx="8321040" cy="35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Lato"/>
                <a:ea typeface="Lato"/>
                <a:cs typeface="Lato"/>
              </a:rPr>
              <a:t>Фотоархив А. А. Харкевича, ИППИ РАН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7417612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S_j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B_j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R_k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f, F, χᵢ — в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таком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порядке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Компонент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R_k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может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быть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больше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двух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Источники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геометрия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отдельно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спектр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отдельно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Планк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vs FL/LED, CIE 15:2018.</a:t>
            </a:r>
          </a:p>
          <a:p>
            <a:pPr algn="l">
              <a:spcAft>
                <a:spcPts val="1000"/>
              </a:spcAft>
            </a:pP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Окраска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Φ;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общее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— СДФОС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двух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лучей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Глаз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колбочки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,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Асано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правит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форму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χ.</a:t>
            </a:r>
          </a:p>
          <a:p>
            <a:pPr algn="l">
              <a:spcAft>
                <a:spcPts val="1000"/>
              </a:spcAft>
            </a:pP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Райт+Гилд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Канг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(2.31).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Конус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выпуклый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. </a:t>
            </a:r>
            <a:r>
              <a:rPr sz="1800" b="0" i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Тело</a:t>
            </a:r>
            <a:r>
              <a:rPr sz="1800" b="0" i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: Φ ↔ 1−Φ.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Что сегодня зафиксировали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3932" y="1130198"/>
            <a:ext cx="7417612" cy="3245205"/>
          </a:xfrm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Л4: пороги (Раутиан), адаптация, CAM — где линейное равенство кончается.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Тест блока А — после Л4. CST и камера — блок Б.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4612" y="423367"/>
            <a:ext cx="8396935" cy="635508"/>
          </a:xfrm>
        </p:spPr>
        <p:txBody>
          <a:bodyPr/>
          <a:lstStyle/>
          <a:p>
            <a:r>
              <a:rPr sz="28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Дальше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5158</TotalTime>
  <Words>2158</Words>
  <Application>Microsoft Office PowerPoint</Application>
  <PresentationFormat>On-screen Show (16:9)</PresentationFormat>
  <Paragraphs>288</Paragraphs>
  <Slides>55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Arial</vt:lpstr>
      <vt:lpstr>Lato</vt:lpstr>
      <vt:lpstr>Simple Light</vt:lpstr>
      <vt:lpstr>Simple Light</vt:lpstr>
      <vt:lpstr>Swiss</vt:lpstr>
      <vt:lpstr>Алгоритмы цветовой вычислительной фотографии</vt:lpstr>
      <vt:lpstr>Блок А</vt:lpstr>
      <vt:lpstr>PowerPoint Presentation</vt:lpstr>
      <vt:lpstr>Что уже есть</vt:lpstr>
      <vt:lpstr>Полная запись</vt:lpstr>
      <vt:lpstr>Что в модели линейно</vt:lpstr>
      <vt:lpstr>Где модель ломается</vt:lpstr>
      <vt:lpstr>PowerPoint Presentation</vt:lpstr>
      <vt:lpstr>Геометрия источника</vt:lpstr>
      <vt:lpstr>Типовые источники</vt:lpstr>
      <vt:lpstr>Стандарты CIE</vt:lpstr>
      <vt:lpstr>Стандарты CIE</vt:lpstr>
      <vt:lpstr>PowerPoint Presentation</vt:lpstr>
      <vt:lpstr>Частные случаи</vt:lpstr>
      <vt:lpstr>Когда СДФОС мало</vt:lpstr>
      <vt:lpstr>Как измерять СДФОС?</vt:lpstr>
      <vt:lpstr>PowerPoint Presentation</vt:lpstr>
      <vt:lpstr>Сетчатка, как она выглядит</vt:lpstr>
      <vt:lpstr>Оптика до рецептора</vt:lpstr>
      <vt:lpstr>Фоторецепторы</vt:lpstr>
      <vt:lpstr>Цепочка в сетчатке</vt:lpstr>
      <vt:lpstr>Аномалии: другие χᵢ</vt:lpstr>
      <vt:lpstr>Модель Асано</vt:lpstr>
      <vt:lpstr>Три разных наблюдателя</vt:lpstr>
      <vt:lpstr>PowerPoint Presentation</vt:lpstr>
      <vt:lpstr>PowerPoint Presentation</vt:lpstr>
      <vt:lpstr>Два опыта, разные первичные</vt:lpstr>
      <vt:lpstr>Почему их можно совмещать</vt:lpstr>
      <vt:lpstr>PowerPoint Presentation</vt:lpstr>
      <vt:lpstr>Что называют конусом</vt:lpstr>
      <vt:lpstr>Конус, локус, треугольник</vt:lpstr>
      <vt:lpstr>Глаз и камера — разный локус</vt:lpstr>
      <vt:lpstr>PowerPoint Presentation</vt:lpstr>
      <vt:lpstr>Определение</vt:lpstr>
      <vt:lpstr>Тела зависят от света и от χᵢ</vt:lpstr>
      <vt:lpstr>Центральная симметрия</vt:lpstr>
      <vt:lpstr>Двойной конус — грубая форма</vt:lpstr>
      <vt:lpstr>Что сегодня зафиксировали</vt:lpstr>
      <vt:lpstr>PowerPoint Presentation</vt:lpstr>
      <vt:lpstr>Постановка</vt:lpstr>
      <vt:lpstr>Метамеры на фото</vt:lpstr>
      <vt:lpstr>Ноль и одно пересечение</vt:lpstr>
      <vt:lpstr>Число пересечений</vt:lpstr>
      <vt:lpstr>Свет меняет тело и пересечения</vt:lpstr>
      <vt:lpstr>5. Ступенчатые окраски</vt:lpstr>
      <vt:lpstr>Что такое ступенька</vt:lpstr>
      <vt:lpstr>Утверждение 1. Оболочка тела</vt:lpstr>
      <vt:lpstr>Почему на границе нет значений между 0 и 1</vt:lpstr>
      <vt:lpstr>Как пробегать оболочку</vt:lpstr>
      <vt:lpstr>Утверждение 2. Смесь ступенек</vt:lpstr>
      <vt:lpstr>Явный способ: кусочно-постоянная Φ</vt:lpstr>
      <vt:lpstr>Что не смешивать</vt:lpstr>
      <vt:lpstr>Что мы за сегодня поняли?</vt:lpstr>
      <vt:lpstr>Что сегодня зафиксировали</vt:lpstr>
      <vt:lpstr>Дальше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цветовой вычислительной фотографии</dc:title>
  <cp:lastModifiedBy>Egor</cp:lastModifiedBy>
  <cp:revision>21</cp:revision>
  <dcterms:modified xsi:type="dcterms:W3CDTF">2026-09-30T18:31:16Z</dcterms:modified>
</cp:coreProperties>
</file>