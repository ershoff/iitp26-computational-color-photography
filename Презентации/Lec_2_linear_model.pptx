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  <p:sldMasterId id="2147483675" r:id="rId3"/>
  </p:sldMasterIdLst>
  <p:notesMasterIdLst>
    <p:notesMasterId r:id="rId53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4"/>
    </p:embeddedFont>
    <p:embeddedFont>
      <p:font typeface="Lato" panose="020F0502020204030203" pitchFamily="34" charset="0"/>
      <p:regular r:id="rId55"/>
      <p:bold r:id="rId56"/>
      <p:italic r:id="rId57"/>
      <p:boldItalic r:id="rId58"/>
    </p:embeddedFont>
    <p:embeddedFont>
      <p:font typeface="Raleway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7">
          <p15:clr>
            <a:srgbClr val="A4A3A4"/>
          </p15:clr>
        </p15:guide>
        <p15:guide id="2" pos="5472">
          <p15:clr>
            <a:srgbClr val="A4A3A4"/>
          </p15:clr>
        </p15:guide>
        <p15:guide id="3" pos="20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00" y="52"/>
      </p:cViewPr>
      <p:guideLst>
        <p:guide orient="horz" pos="667"/>
        <p:guide pos="5472"/>
        <p:guide pos="2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notesMaster" Target="notesMasters/notesMaster1.xml"/><Relationship Id="rId54" Type="http://schemas.openxmlformats.org/officeDocument/2006/relationships/font" Target="fonts/font1.fntdata"/><Relationship Id="rId55" Type="http://schemas.openxmlformats.org/officeDocument/2006/relationships/font" Target="fonts/font2.fntdata"/><Relationship Id="rId56" Type="http://schemas.openxmlformats.org/officeDocument/2006/relationships/font" Target="fonts/font3.fntdata"/><Relationship Id="rId57" Type="http://schemas.openxmlformats.org/officeDocument/2006/relationships/font" Target="fonts/font4.fntdata"/><Relationship Id="rId58" Type="http://schemas.openxmlformats.org/officeDocument/2006/relationships/font" Target="fonts/font5.fntdata"/><Relationship Id="rId59" Type="http://schemas.openxmlformats.org/officeDocument/2006/relationships/font" Target="fonts/font6.fntdata"/><Relationship Id="rId60" Type="http://schemas.openxmlformats.org/officeDocument/2006/relationships/font" Target="fonts/font7.fntdata"/><Relationship Id="rId61" Type="http://schemas.openxmlformats.org/officeDocument/2006/relationships/font" Target="fonts/font8.fntdata"/><Relationship Id="rId62" Type="http://schemas.openxmlformats.org/officeDocument/2006/relationships/font" Target="fonts/font9.fntdata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26"/>
          <p:cNvCxnSpPr/>
          <p:nvPr/>
        </p:nvCxnSpPr>
        <p:spPr>
          <a:xfrm>
            <a:off x="324850" y="415650"/>
            <a:ext cx="8397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26"/>
          <p:cNvCxnSpPr/>
          <p:nvPr/>
        </p:nvCxnSpPr>
        <p:spPr>
          <a:xfrm>
            <a:off x="379000" y="4740000"/>
            <a:ext cx="834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26"/>
          <p:cNvSpPr txBox="1">
            <a:spLocks noGrp="1"/>
          </p:cNvSpPr>
          <p:nvPr>
            <p:ph type="title"/>
          </p:nvPr>
        </p:nvSpPr>
        <p:spPr>
          <a:xfrm>
            <a:off x="324850" y="423550"/>
            <a:ext cx="8397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106" name="Google Shape;106;p27"/>
          <p:cNvCxnSpPr/>
          <p:nvPr/>
        </p:nvCxnSpPr>
        <p:spPr>
          <a:xfrm>
            <a:off x="324850" y="415650"/>
            <a:ext cx="8397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27"/>
          <p:cNvCxnSpPr/>
          <p:nvPr/>
        </p:nvCxnSpPr>
        <p:spPr>
          <a:xfrm>
            <a:off x="379000" y="4740000"/>
            <a:ext cx="834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834325" y="1130375"/>
            <a:ext cx="7417200" cy="3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title"/>
          </p:nvPr>
        </p:nvSpPr>
        <p:spPr>
          <a:xfrm>
            <a:off x="324850" y="423550"/>
            <a:ext cx="8397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531771" y="575950"/>
            <a:ext cx="81873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1"/>
          </p:nvPr>
        </p:nvSpPr>
        <p:spPr>
          <a:xfrm>
            <a:off x="544544" y="1595776"/>
            <a:ext cx="81873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 i="0" u="none" strike="noStrike" cap="none">
                <a:solidFill>
                  <a:schemeClr val="dk2"/>
                </a:solidFill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 i="0" u="none" strike="noStrike" cap="none">
                <a:solidFill>
                  <a:schemeClr val="dk2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 i="0" u="none" strike="noStrike" cap="none">
                <a:solidFill>
                  <a:schemeClr val="dk2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i="0" u="none" strike="noStrike" cap="none">
                <a:solidFill>
                  <a:schemeClr val="dk2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 i="0" u="none" strike="noStrike" cap="none">
                <a:solidFill>
                  <a:schemeClr val="dk2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 i="0" u="none" strike="noStrike" cap="none">
                <a:solidFill>
                  <a:schemeClr val="dk2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i="0" u="none" strike="noStrike" cap="none">
                <a:solidFill>
                  <a:schemeClr val="dk2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 i="0" u="none" strike="noStrike" cap="none">
                <a:solidFill>
                  <a:schemeClr val="dk2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400"/>
              <a:buChar char="■"/>
              <a:defRPr sz="14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Вычислительная цветовая фотография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Лекция 2. Линейная модель формирования</a:t>
            </a:r>
          </a:p>
          <a:p>
            <a:r>
              <a:t>IITP'26  ·  ИППИ РАН  ·  осень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устроен курс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До пары: материалы → вы готовите вопросы (это активность).</a:t>
            </a:r>
          </a:p>
          <a:p>
            <a:pPr/>
            <a:r>
              <a:t>На паре: повествование + разбор ваших вопросов.</a:t>
            </a:r>
          </a:p>
          <a:p>
            <a:pPr/>
            <a:r>
              <a:t>Тесты после лекций 3, 6, 9 и 12.</a:t>
            </a:r>
          </a:p>
          <a:p>
            <a:pPr/>
            <a:r>
              <a:t>Демо-семинар — сегодня, сразу после этой лекции.</a:t>
            </a:r>
          </a:p>
          <a:p>
            <a:pPr/>
            <a:r>
              <a:t>Оценка: 0.5 зачёт + 0.25 активность + 0.125 тесты + 0.125 явка + 0.4 практика.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Карта курса: 14 лекций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Блок А (25%) — колориметрия и зрительная система.</a:t>
            </a:r>
          </a:p>
          <a:p>
            <a:pPr/>
            <a:r>
              <a:t>Блок Б (75%) — репродукция и вычислительная фотография.</a:t>
            </a:r>
          </a:p>
          <a:p>
            <a:pPr/>
            <a:r>
              <a:t>Эта пара — линейная модель формирования изображений.</a:t>
            </a:r>
          </a:p>
          <a:p>
            <a:pPr/>
            <a:r>
              <a:t>Дальше в блоке А: свойства зрительной системы (пороги, адаптация, внешний вид).</a:t>
            </a:r>
          </a:p>
          <a:p>
            <a:pPr/>
            <a:r>
              <a:t>Не сегодня: XYZ-геометрия, CAM, ISP, sRGB.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модель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В файле нет цвета — есть числа после какого-то приёмника.</a:t>
            </a:r>
          </a:p>
          <a:p>
            <a:pPr/>
            <a:r>
              <a:t>Глаз и камера говорят на одном языке, только если ясно, что проинтегрировали.</a:t>
            </a:r>
          </a:p>
          <a:p>
            <a:pPr/>
            <a:r>
              <a:t>Дальше: трёхмерность, сложение равенств, материалы, приёмники, связь пространств.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4285F4"/>
                </a:solidFill>
                <a:latin typeface="Lato"/>
              </a:rPr>
              <a:t>Пауза. Цвет — свет, поверхность или наблюдатель? Сегодня — через интеграл.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Юнг–Максвелл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Юнг: три приёмника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Большинство цветовых ощущений собирается из трёх независимых «основных».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Это гипотеза о приёмниках, не о физике света: свет по-прежнему спектр.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Три канала — про глаз, не про «красный / зелёный / синий свет».</a:t>
            </a:r>
          </a:p>
        </p:txBody>
      </p:sp>
      <p:pic>
        <p:nvPicPr>
          <p:cNvPr id="4" name="Picture 3" descr="lms_c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3794760" cy="2668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Максвелл: равенство, не имя цвета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Наблюдатель подгоняет смесь трёх основных под тестовое поле, пока не отличит.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Измеряются коэффициенты равенства — не слово «зелёный».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Двух основных мало; четырёх для равенства избыточно.</a:t>
            </a:r>
          </a:p>
        </p:txBody>
      </p:sp>
      <p:pic>
        <p:nvPicPr>
          <p:cNvPr id="4" name="Picture 3" descr="maxwell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34440"/>
            <a:ext cx="3749039" cy="1464468"/>
          </a:xfrm>
          <a:prstGeom prst="rect">
            <a:avLst/>
          </a:prstGeom>
        </p:spPr>
      </p:pic>
      <p:pic>
        <p:nvPicPr>
          <p:cNvPr id="5" name="Picture 4" descr="maxwell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71800"/>
            <a:ext cx="1424148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из опыта следует сразу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Трёхмерность равенств → три числа на спектр (пока без XYZ как стандарта).</a:t>
            </a:r>
          </a:p>
          <a:p>
            <a:pPr/>
            <a:r>
              <a:t>Разные спектры могут дать одно равенство — метамерия; лемма про ядро будет на Л3.</a:t>
            </a:r>
          </a:p>
          <a:p>
            <a:pPr/>
            <a:r>
              <a:t>Нужны законы: когда такие равенства можно складывать.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Грассман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Законы как правила равенств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Если A неотличим от B, перестановка полей равенства не ломает.</a:t>
            </a:r>
          </a:p>
          <a:p>
            <a:pPr/>
            <a:r>
              <a:t>Пропорциональность: смесь можно масштабировать.</a:t>
            </a:r>
          </a:p>
          <a:p>
            <a:pPr/>
            <a:r>
              <a:t>Аддитивность: равенства можно складывать.</a:t>
            </a:r>
          </a:p>
          <a:p>
            <a:pPr/>
            <a:r>
              <a:t>Непрерывность: близкие спектры → близкие равенства.</a:t>
            </a:r>
          </a:p>
          <a:p>
            <a:pPr/>
            <a:r>
              <a:t>Смысл: равенство — линейная операция на световых потоках.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Формула, которая держит пару</a:t>
            </a:r>
          </a:p>
        </p:txBody>
      </p:sp>
      <p:pic>
        <p:nvPicPr>
          <p:cNvPr id="3" name="Picture 2" descr="eq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6949440" cy="10918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240280"/>
            <a:ext cx="8321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sᵢ — спектральная чувствительность i-го приёмника.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Φ — спектр, который дошёл до приёмника.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Глаз: i = L, M, S. Камера: i = R, G, B (или сколько фильтров есть).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Если sᵢ фиксированы, Φ ↦ (cᵢ) линейно — это Грассман.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линейность кончается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Адаптация: приёмник «плывёт».</a:t>
            </a:r>
          </a:p>
          <a:p>
            <a:pPr/>
            <a:r>
              <a:t>Палочки и колбочки сразу (мезопическое).</a:t>
            </a:r>
          </a:p>
          <a:p>
            <a:pPr/>
            <a:r>
              <a:t>Очень яркое / очень тёмное.</a:t>
            </a:r>
          </a:p>
          <a:p>
            <a:pPr/>
            <a:r>
              <a:t>Материалы, где Φ ≠ I·R (флуоресценция — ниже).</a:t>
            </a:r>
          </a:p>
          <a:p>
            <a:pPr/>
            <a:r>
              <a:t>Порог различения ≠ равенство — следующие лекции блока 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4285F4"/>
                </a:solidFill>
                <a:latin typeface="Lato"/>
              </a:rPr>
              <a:t>Пауза. Что в законах линейно и что уже нет?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Материалы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Линейное отражение</a:t>
            </a:r>
          </a:p>
        </p:txBody>
      </p:sp>
      <p:pic>
        <p:nvPicPr>
          <p:cNvPr id="3" name="Picture 2" descr="eq_ref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6766560" cy="1063149"/>
          </a:xfrm>
          <a:prstGeom prst="rect">
            <a:avLst/>
          </a:prstGeom>
        </p:spPr>
      </p:pic>
      <p:pic>
        <p:nvPicPr>
          <p:cNvPr id="4" name="Picture 3" descr="eq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965960"/>
            <a:ext cx="6766560" cy="1063149"/>
          </a:xfrm>
          <a:prstGeom prst="rect">
            <a:avLst/>
          </a:prstGeom>
        </p:spPr>
      </p:pic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8412480" cy="18527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Диффузное и зеркальное</a:t>
            </a:r>
          </a:p>
        </p:txBody>
      </p:sp>
      <p:pic>
        <p:nvPicPr>
          <p:cNvPr id="3" name="Picture 2" descr="diffuse_spe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43000"/>
            <a:ext cx="7223760" cy="2608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794760"/>
            <a:ext cx="8321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Lato"/>
              </a:rPr>
              <a:t>•  Одно тело — два разных Φ в разных лучах. «Цвет объекта» неоднозначен.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модель I·R ломается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Флуоресценция — поглотили одно λ, излучили другое; это не умножение спектров.</a:t>
            </a:r>
          </a:p>
          <a:p>
            <a:pPr/>
            <a:r>
              <a:t>Структурный / гониоцвет — R зависит от углов, не от «краски в точке».</a:t>
            </a:r>
          </a:p>
          <a:p>
            <a:pPr/>
            <a:r>
              <a:t>Просвечивающие среды — свет ходит внутри объёма.</a:t>
            </a:r>
          </a:p>
          <a:p>
            <a:pPr/>
            <a:r>
              <a:t>Линейный приёмник всё равно интегрирует то Φ, что дошло; врёт модель материала.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Приёмники: глаз и камера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Палочки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Один тип (родопсин), скотопическое зрение → нет цветовых равенств «как у колбочек».</a:t>
            </a:r>
          </a:p>
          <a:p>
            <a:pPr/>
            <a:r>
              <a:t>Не путать с третьим каналом камеры.</a:t>
            </a:r>
          </a:p>
          <a:p>
            <a:pPr/>
            <a:r>
              <a:t>В опытах дневной колориметрии их обычно выключают: яркость и ямка сетчатки.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Колбочки L, M,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Три спектральных приёмника: пики и перекрытие.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Это не каналы R, G, B файла и не «красный / зелёный / синий свет».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Три числа (c_L, c_M, c_S) — пространство колбочек.</a:t>
            </a:r>
          </a:p>
        </p:txBody>
      </p:sp>
      <p:pic>
        <p:nvPicPr>
          <p:cNvPr id="4" name="Picture 3" descr="lms_c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931920" cy="2765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Меланопсиновые клетки (ipRGC)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Ещё один фотопигмент, ганглиозные клетки.</a:t>
            </a:r>
          </a:p>
          <a:p>
            <a:pPr/>
            <a:r>
              <a:t>Зрачок, циркадные ритмы — не цветовое равенство Максвелла.</a:t>
            </a:r>
          </a:p>
          <a:p>
            <a:pPr/>
            <a:r>
              <a:t>В законы Грассмана про трихроматическое равенство не входят.</a:t>
            </a:r>
          </a:p>
          <a:p>
            <a:pPr/>
            <a:r>
              <a:t>«В глазу не ровно три приёмника» ≠ «цвет четырёхмерен в смысле Максвелла».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Камера: те же интегралы, пока RAW линейный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cᵢ = ∫ sᵢ Φ dλ плюс шум и мозаика — вскользь.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Фильтры Байера — конкретные s_R, s_G, s_B, не функции наблюдателя.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Кривые другие → другие метамеры.</a:t>
            </a:r>
          </a:p>
        </p:txBody>
      </p:sp>
      <p:pic>
        <p:nvPicPr>
          <p:cNvPr id="4" name="Picture 3" descr="camera_vs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397763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Глаз и камера рядом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88720"/>
          <a:ext cx="83210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00400"/>
                <a:gridCol w="3200400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</a:rPr>
                        <a:t>Глаз (равенство)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</a:rPr>
                        <a:t>Камера (RAW)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</a:rPr>
                        <a:t>Что измеряем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неразличимость полей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числа на фотодиоде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</a:rPr>
                        <a:t>Сколько sᵢ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три колбочки (в опыте)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3 (Байер) или больше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</a:rPr>
                        <a:t>Линейность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Грассман, с оговорками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пока не тронули ISP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</a:rPr>
                        <a:t>Метамерия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своя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</a:rPr>
                        <a:t>своя, другая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Связь пространств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 каждого приёмника своё пространство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Спектр Φ один, векторы c разные: колбочки, камера A, камера B.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Lato"/>
              </a:rPr>
              <a:t>•  «Связать пространства» — найти отображение c⁽ᴬ⁾ ↦ c⁽ᴮ⁾.</a:t>
            </a:r>
          </a:p>
        </p:txBody>
      </p:sp>
      <p:pic>
        <p:nvPicPr>
          <p:cNvPr id="4" name="Picture 3" descr="lettuce_meta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931920" cy="60346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хватает матрицы 3×3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Оба набора sᵢ — линейные функционалы на одном и том же Φ.</a:t>
            </a:r>
          </a:p>
          <a:p>
            <a:pPr/>
            <a:r>
              <a:t>Если чувствительности камеры лежат в оболочке чувствительностей глаза — есть точная матрица.</a:t>
            </a:r>
          </a:p>
          <a:p>
            <a:pPr/>
            <a:r>
              <a:t>Иначе матрица — приближение; ошибка проявляется чужими метамерами.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Критерий Максвелла–Лютера–Айвса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Прибор измеряет «как глаз», если его sᵢ — линейная комбинация функций наблюдателя.</a:t>
            </a:r>
          </a:p>
          <a:p>
            <a:pPr/>
            <a:r>
              <a:t>Иначе у камеры и глаза разные классы метамеров.</a:t>
            </a:r>
          </a:p>
          <a:p>
            <a:pPr/>
            <a:r>
              <a:t>На Л10 это станет задачей CST. Сегодня — зачем сравнивать кривые.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4285F4"/>
                </a:solidFill>
                <a:latin typeface="Lato"/>
              </a:rPr>
              <a:t>Пауза. Можно ли пересчитать RAW в LMS одной матрицей? Когда да / когда нет.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измеряют s(λ)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Глаз: равенства по длинам волн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Монохроматический тест + три основных (Максвелл / Райт–Гилд → позже CMF).</a:t>
            </a:r>
          </a:p>
          <a:p>
            <a:pPr/>
            <a:r>
              <a:t>На каждой λ — три коэффициента в базисе выбранных основных.</a:t>
            </a:r>
          </a:p>
          <a:p>
            <a:pPr/>
            <a:r>
              <a:t>Это не кривые колбочек как есть; колбочки восстанавливают отдельно.</a:t>
            </a:r>
          </a:p>
          <a:p>
            <a:pPr/>
            <a:r>
              <a:t>Яркостная V(λ) — другой опыт. Геометрия — Л3.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Камера: известный спектр → линейный RAW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Монохроматор или узкие LED: Φ почти δ(λ), читаем RAW по каналам → оценка sᵢ(λ).</a:t>
            </a:r>
          </a:p>
          <a:p>
            <a:pPr/>
            <a:r>
              <a:t>Нужны линейность RAW, выключенные авто-WB и JPEG.</a:t>
            </a:r>
          </a:p>
          <a:p>
            <a:pPr/>
            <a:r>
              <a:t>Иначе измеряете ISP, не приёмник.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Два измерения — не одно и то же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Глаз: критерий — «поля совпали».</a:t>
            </a:r>
          </a:p>
          <a:p>
            <a:pPr/>
            <a:r>
              <a:t>Камера: критерий — «число в файле».</a:t>
            </a:r>
          </a:p>
          <a:p>
            <a:pPr/>
            <a:r>
              <a:t>CMF и кривые Canon живут в разных протоколах.</a:t>
            </a:r>
          </a:p>
          <a:p>
            <a:pPr/>
            <a:r>
              <a:t>Пороги Раутиана и аномалоскоп — не сегодня.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Закрытие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сегодня зафиксировали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Линейная модель c = ∫ s I R (когда R законна).</a:t>
            </a:r>
          </a:p>
          <a:p>
            <a:pPr/>
            <a:r>
              <a:t>Юнг–Максвелл: три приёмника и равенство.</a:t>
            </a:r>
          </a:p>
          <a:p>
            <a:pPr/>
            <a:r>
              <a:t>Грассман: линейность равенств.</a:t>
            </a:r>
          </a:p>
          <a:p>
            <a:pPr/>
            <a:r>
              <a:t>Материалы и приёмники задают, какой интеграл.</a:t>
            </a:r>
          </a:p>
          <a:p>
            <a:pPr/>
            <a:r>
              <a:t>Пространства разных s связаны не всегда матрицей.</a:t>
            </a:r>
          </a:p>
          <a:p>
            <a:pPr/>
            <a:r>
              <a:t>Чувствительности глаза и камеры измеряют по-разному.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Следующие пары блока 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Свойства зрительной системы дальше линейного равенства: пороги (Раутиан), адаптация, внешний вид.</a:t>
            </a:r>
          </a:p>
          <a:p>
            <a:pPr/>
            <a:r>
              <a:t>Геометрия пространства и лемма о метамерах — лекция 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Демо сегодня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Два спектра Φ, одни ответы c у глаза, другие — у «камеры» с чужими s.</a:t>
            </a:r>
          </a:p>
          <a:p>
            <a:pPr/>
            <a:r>
              <a:t>Метамерия чья: наблюдателя или прибора?</a:t>
            </a:r>
          </a:p>
          <a:p>
            <a:pPr/>
            <a:r>
              <a:t>Код не сдаём. После демо фиксируем, что входит в практику (0.4).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 зачёту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Карточки А1.3–4, А2.5–7, А2.9; измерение чувствительностей — А2.6.</a:t>
            </a:r>
          </a:p>
          <a:p>
            <a:pPr/>
            <a:r>
              <a:t>Раутиан (А2.8) — после лекции про пороги.</a:t>
            </a:r>
          </a:p>
          <a:p>
            <a:pPr/>
            <a:r>
              <a:t>Два вопроса из общей колоды, доля банка 25/75.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</TotalTime>
  <Words>1451</Words>
  <Application>Microsoft Office PowerPoint</Application>
  <PresentationFormat>On-screen Show (16:9)</PresentationFormat>
  <Paragraphs>182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Raleway</vt:lpstr>
      <vt:lpstr>Cambria Math</vt:lpstr>
      <vt:lpstr>Lato</vt:lpstr>
      <vt:lpstr>Simple Light</vt:lpstr>
      <vt:lpstr>Simple Light</vt:lpstr>
      <vt:lpstr>Swiss</vt:lpstr>
      <vt:lpstr>Математика и искусственный интеллект в цвете</vt:lpstr>
      <vt:lpstr>Цвет вокруг нас</vt:lpstr>
      <vt:lpstr>Цвет вокруг нас, но как?</vt:lpstr>
      <vt:lpstr>PowerPoint Presentation</vt:lpstr>
      <vt:lpstr>Процесс съемки</vt:lpstr>
      <vt:lpstr>Изображения с разных камер</vt:lpstr>
      <vt:lpstr>Обработка у камер разная</vt:lpstr>
      <vt:lpstr>У каждого производителя свои стили</vt:lpstr>
      <vt:lpstr>Что из этого следует?</vt:lpstr>
      <vt:lpstr>PowerPoint Presentation</vt:lpstr>
      <vt:lpstr>Что думают лингвисты?</vt:lpstr>
      <vt:lpstr>Что думают биологи?</vt:lpstr>
      <vt:lpstr>Что думают физики?</vt:lpstr>
      <vt:lpstr>Разный свет вызывает разный цвет</vt:lpstr>
      <vt:lpstr>Модель формирования изображения</vt:lpstr>
      <vt:lpstr>Как мы различаем излучение?</vt:lpstr>
      <vt:lpstr>PowerPoint Presentation</vt:lpstr>
      <vt:lpstr>Радиометрия и колориметрия</vt:lpstr>
      <vt:lpstr>Что знали древние?</vt:lpstr>
      <vt:lpstr>Как измерять цвет?</vt:lpstr>
      <vt:lpstr>PowerPoint Presentation</vt:lpstr>
      <vt:lpstr>Как измерить цвет?</vt:lpstr>
      <vt:lpstr>Фотометрия</vt:lpstr>
      <vt:lpstr>Колориметрия</vt:lpstr>
      <vt:lpstr>Колориметрия: CIE RGB 1931</vt:lpstr>
      <vt:lpstr>Колориметрия: CIE XYZ 1931</vt:lpstr>
      <vt:lpstr>Колориметрия: спектральный локус!</vt:lpstr>
      <vt:lpstr>PowerPoint Presentation</vt:lpstr>
      <vt:lpstr>Зрительная система человека (ЗСЧ)</vt:lpstr>
      <vt:lpstr>Эксперименты МакАдама</vt:lpstr>
      <vt:lpstr>Яркостная константность</vt:lpstr>
      <vt:lpstr>Яркостная константность</vt:lpstr>
      <vt:lpstr>Цветовая константность</vt:lpstr>
      <vt:lpstr>Цветовая адаптация</vt:lpstr>
      <vt:lpstr>Что об этом говорит Нюберг?</vt:lpstr>
      <vt:lpstr>CIE LAB</vt:lpstr>
      <vt:lpstr>CIE LAB: проверка художником</vt:lpstr>
      <vt:lpstr>CIE CAM 97, 02, 16: учет контекста</vt:lpstr>
      <vt:lpstr>Множество моделей</vt:lpstr>
      <vt:lpstr>PowerPoint Presentation</vt:lpstr>
      <vt:lpstr>Что такое RGB?</vt:lpstr>
      <vt:lpstr>sRGB</vt:lpstr>
      <vt:lpstr>Планковские источники</vt:lpstr>
      <vt:lpstr>Планковские источники</vt:lpstr>
      <vt:lpstr>Планковские источники</vt:lpstr>
      <vt:lpstr>Другие цветовые пространства</vt:lpstr>
      <vt:lpstr>Гамма коррекция</vt:lpstr>
      <vt:lpstr>Что мы за сегодня поняли?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цветовой вычислительной фотографии</dc:title>
  <cp:lastModifiedBy>Egor</cp:lastModifiedBy>
  <cp:revision>9</cp:revision>
  <dcterms:modified xsi:type="dcterms:W3CDTF">2026-07-21T18:29:45Z</dcterms:modified>
</cp:coreProperties>
</file>